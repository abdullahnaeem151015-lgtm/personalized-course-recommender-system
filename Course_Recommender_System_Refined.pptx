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Course Count</c:v>
                </c:pt>
              </c:strCache>
            </c:strRef>
          </c:tx>
          <c:spPr>
            <a:solidFill>
              <a:srgbClr val="ED8428"/>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Sheet1!$A$2:$A$15</c:f>
              <c:multiLvlStrCache>
                <c:ptCount val="14"/>
                <c:lvl>
                  <c:pt idx="0">
                    <c:v>BackendDev</c:v>
                  </c:pt>
                  <c:pt idx="1">
                    <c:v>MachineLearning</c:v>
                  </c:pt>
                  <c:pt idx="2">
                    <c:v>Database</c:v>
                  </c:pt>
                  <c:pt idx="3">
                    <c:v>DataAnalysis</c:v>
                  </c:pt>
                  <c:pt idx="4">
                    <c:v>DataScience</c:v>
                  </c:pt>
                  <c:pt idx="5">
                    <c:v>CloudComputing</c:v>
                  </c:pt>
                  <c:pt idx="6">
                    <c:v>BigData</c:v>
                  </c:pt>
                  <c:pt idx="7">
                    <c:v>Python</c:v>
                  </c:pt>
                  <c:pt idx="8">
                    <c:v>FrontendDev</c:v>
                  </c:pt>
                  <c:pt idx="9">
                    <c:v>Containers</c:v>
                  </c:pt>
                  <c:pt idx="10">
                    <c:v>R</c:v>
                  </c:pt>
                  <c:pt idx="11">
                    <c:v>ComputerVision</c:v>
                  </c:pt>
                  <c:pt idx="12">
                    <c:v>Chatbot</c:v>
                  </c:pt>
                  <c:pt idx="13">
                    <c:v>Blockchain</c:v>
                  </c:pt>
                </c:lvl>
              </c:multiLvlStrCache>
            </c:multiLvlStrRef>
          </c:cat>
          <c:val>
            <c:numRef>
              <c:f>Sheet1!$B$2:$B$15</c:f>
              <c:numCache>
                <c:formatCode>General</c:formatCode>
                <c:ptCount val="14"/>
                <c:pt idx="0">
                  <c:v>78</c:v>
                </c:pt>
                <c:pt idx="1">
                  <c:v>69</c:v>
                </c:pt>
                <c:pt idx="2">
                  <c:v>60</c:v>
                </c:pt>
                <c:pt idx="3">
                  <c:v>56</c:v>
                </c:pt>
                <c:pt idx="4">
                  <c:v>38</c:v>
                </c:pt>
                <c:pt idx="5">
                  <c:v>37</c:v>
                </c:pt>
                <c:pt idx="6">
                  <c:v>36</c:v>
                </c:pt>
                <c:pt idx="7">
                  <c:v>28</c:v>
                </c:pt>
                <c:pt idx="8">
                  <c:v>19</c:v>
                </c:pt>
                <c:pt idx="9">
                  <c:v>17</c:v>
                </c:pt>
                <c:pt idx="10">
                  <c:v>17</c:v>
                </c:pt>
                <c:pt idx="11">
                  <c:v>10</c:v>
                </c:pt>
                <c:pt idx="12">
                  <c:v>4</c:v>
                </c:pt>
                <c:pt idx="13">
                  <c:v>4</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3A3A3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FFFFFF"/>
                </a:solidFill>
                <a:latin typeface="Arial"/>
              </a:defRPr>
            </a:pPr>
            <a:endParaRPr lang="en-US"/>
          </a:p>
        </c:txPr>
        <c:crossAx val="2094734554"/>
        <c:crosses val="autoZero"/>
        <c:crossBetween val="between"/>
      </c:valAx>
      <c:spPr>
        <a:solidFill>
          <a:srgbClr val="000000"/>
        </a:solidFill>
        <a:ln>
          <a:noFill/>
        </a:ln>
        <a:effectLst/>
      </c:spPr>
    </c:plotArea>
    <c:plotVisOnly val="1"/>
    <c:dispBlanksAs val="span"/>
  </c:chart>
  <c:spPr>
    <a:solidFill>
      <a:srgbClr val="00000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RMSE (lower is better)</c:v>
                </c:pt>
              </c:strCache>
            </c:strRef>
          </c:tx>
          <c:spPr>
            <a:solidFill>
              <a:srgbClr val="ED8428"/>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KNN</c:v>
                  </c:pt>
                  <c:pt idx="1">
                    <c:v>NMF</c:v>
                  </c:pt>
                  <c:pt idx="2">
                    <c:v>Neural Network</c:v>
                  </c:pt>
                </c:lvl>
              </c:multiLvlStrCache>
            </c:multiLvlStrRef>
          </c:cat>
          <c:val>
            <c:numRef>
              <c:f>Sheet1!$B$2:$B$4</c:f>
              <c:numCache>
                <c:formatCode>General</c:formatCode>
                <c:ptCount val="3"/>
                <c:pt idx="0">
                  <c:v>1.29</c:v>
                </c:pt>
                <c:pt idx="1">
                  <c:v>1.3047</c:v>
                </c:pt>
                <c:pt idx="2">
                  <c:v>0.4492</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3A3A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FFFFFF"/>
                </a:solidFill>
                <a:latin typeface="Arial"/>
              </a:defRPr>
            </a:pPr>
            <a:endParaRPr lang="en-US"/>
          </a:p>
        </c:txPr>
        <c:crossAx val="2094734554"/>
        <c:crosses val="autoZero"/>
        <c:crossBetween val="between"/>
      </c:valAx>
      <c:spPr>
        <a:solidFill>
          <a:srgbClr val="000000"/>
        </a:solidFill>
        <a:ln>
          <a:noFill/>
        </a:ln>
        <a:effectLst/>
      </c:spPr>
    </c:plotArea>
    <c:plotVisOnly val="1"/>
    <c:dispBlanksAs val="span"/>
  </c:chart>
  <c:spPr>
    <a:solidFill>
      <a:srgbClr val="00000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home/claude/assets/title_bg.png">    </p:cNvPr>
          <p:cNvPicPr>
            <a:picLocks noChangeAspect="1"/>
          </p:cNvPicPr>
          <p:nvPr/>
        </p:nvPicPr>
        <p:blipFill>
          <a:blip r:embed="rId1"/>
          <a:stretch>
            <a:fillRect/>
          </a:stretch>
        </p:blipFill>
        <p:spPr>
          <a:xfrm>
            <a:off x="8138160" y="0"/>
            <a:ext cx="4050792" cy="3685032"/>
          </a:xfrm>
          <a:prstGeom prst="rect">
            <a:avLst/>
          </a:prstGeom>
        </p:spPr>
      </p:pic>
      <p:sp>
        <p:nvSpPr>
          <p:cNvPr id="3" name="Text 0"/>
          <p:cNvSpPr/>
          <p:nvPr/>
        </p:nvSpPr>
        <p:spPr>
          <a:xfrm>
            <a:off x="548640" y="3017520"/>
            <a:ext cx="9601200" cy="10972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 O U R S E   R E C O M M E N D E R   S Y S T E M</a:t>
            </a:r>
            <a:endParaRPr lang="en-US" sz="3000" dirty="0"/>
          </a:p>
        </p:txBody>
      </p:sp>
      <p:sp>
        <p:nvSpPr>
          <p:cNvPr id="4" name="Text 1"/>
          <p:cNvSpPr/>
          <p:nvPr/>
        </p:nvSpPr>
        <p:spPr>
          <a:xfrm>
            <a:off x="548640" y="4480560"/>
            <a:ext cx="9601200" cy="914400"/>
          </a:xfrm>
          <a:prstGeom prst="rect">
            <a:avLst/>
          </a:prstGeom>
          <a:solidFill>
            <a:srgbClr val="6B3A1A"/>
          </a:solidFill>
          <a:ln/>
        </p:spPr>
        <p:txBody>
          <a:bodyPr wrap="square" lIns="101600" tIns="101600" rIns="101600" bIns="101600" rtlCol="0" anchor="ctr"/>
          <a:lstStyle/>
          <a:p>
            <a:pPr indent="0" marL="0">
              <a:buNone/>
            </a:pPr>
            <a:r>
              <a:rPr lang="en-US" sz="1600" dirty="0">
                <a:solidFill>
                  <a:srgbClr val="FFFFFF"/>
                </a:solidFill>
                <a:latin typeface="Arial" pitchFamily="34" charset="0"/>
                <a:ea typeface="Arial" pitchFamily="34" charset="-122"/>
                <a:cs typeface="Arial" pitchFamily="34" charset="-120"/>
              </a:rPr>
              <a:t>Uses machine learning techniques to recommend relevant courses based on user preferences and course similarities.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OUTLINE:</a:t>
            </a:r>
            <a:endParaRPr lang="en-US" sz="2600" dirty="0"/>
          </a:p>
        </p:txBody>
      </p:sp>
      <p:sp>
        <p:nvSpPr>
          <p:cNvPr id="3" name="Text 1"/>
          <p:cNvSpPr/>
          <p:nvPr/>
        </p:nvSpPr>
        <p:spPr>
          <a:xfrm>
            <a:off x="548640" y="1463040"/>
            <a:ext cx="5394960" cy="50292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Executive Summary</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Introduction</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Methodology</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Word Cloud of Course Titles</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Course Genre &amp; Enrollment Analysis</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Most Popular Courses</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Results</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Content-Based Recommender — User Profile</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Diagrammatic Workflow of System</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Content-Based Recommender — Course Similarity</a:t>
            </a:r>
            <a:endParaRPr lang="en-US" sz="1350" dirty="0"/>
          </a:p>
        </p:txBody>
      </p:sp>
      <p:sp>
        <p:nvSpPr>
          <p:cNvPr id="4" name="Text 2"/>
          <p:cNvSpPr/>
          <p:nvPr/>
        </p:nvSpPr>
        <p:spPr>
          <a:xfrm>
            <a:off x="6309360" y="1463040"/>
            <a:ext cx="5394960" cy="50292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Comparative Insights</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Clustering-Based Recommender</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KNN Collaborative Filtering</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NMF Collaborative Filtering</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Neural Network Recommender</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Model Performance Comparison</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Live Demo Link</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Dashboard Screenshots</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Discussion</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Overall Findings &amp; Implications</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Conclusion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EXECUTIVE SUMMARY</a:t>
            </a:r>
            <a:endParaRPr lang="en-US" sz="2600" dirty="0"/>
          </a:p>
        </p:txBody>
      </p:sp>
      <p:pic>
        <p:nvPicPr>
          <p:cNvPr id="3" name="Image 0" descr="/home/claude/assets/icon_book.png">    </p:cNvPr>
          <p:cNvPicPr>
            <a:picLocks noChangeAspect="1"/>
          </p:cNvPicPr>
          <p:nvPr/>
        </p:nvPicPr>
        <p:blipFill>
          <a:blip r:embed="rId1"/>
          <a:stretch>
            <a:fillRect/>
          </a:stretch>
        </p:blipFill>
        <p:spPr>
          <a:xfrm>
            <a:off x="548640" y="2103120"/>
            <a:ext cx="2377440" cy="2377440"/>
          </a:xfrm>
          <a:prstGeom prst="rect">
            <a:avLst/>
          </a:prstGeom>
        </p:spPr>
      </p:pic>
      <p:sp>
        <p:nvSpPr>
          <p:cNvPr id="4" name="Text 1"/>
          <p:cNvSpPr/>
          <p:nvPr/>
        </p:nvSpPr>
        <p:spPr>
          <a:xfrm>
            <a:off x="3291840" y="1463040"/>
            <a:ext cx="8321040" cy="49377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Explored and analyzed an online course enrollment dataset to understand user behavior and prepare the data for building recommendation models.</a:t>
            </a:r>
            <a:endParaRPr lang="en-US" sz="1350" dirty="0"/>
          </a:p>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Extracted Bag of Words (BoW) features from course descriptions and measured course similarity using textual content.</a:t>
            </a:r>
            <a:endParaRPr lang="en-US" sz="1350" dirty="0"/>
          </a:p>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Built content-based recommendation systems using both course similarities and user profile vectors based on course genres and user preferences.</a:t>
            </a:r>
            <a:endParaRPr lang="en-US" sz="1350" dirty="0"/>
          </a:p>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Applied clustering techniques to group users with similar interests and improve personalized course recommendations.</a:t>
            </a:r>
            <a:endParaRPr lang="en-US" sz="1350" dirty="0"/>
          </a:p>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Implemented collaborative filtering using K-Nearest Neighbors (KNN) and Non-negative Matrix Factorization (NMF) to recommend courses from user-item interactions.</a:t>
            </a:r>
            <a:endParaRPr lang="en-US" sz="1350" dirty="0"/>
          </a:p>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Developed a neural network recommender to learn user and course embeddings for predicting course ratings.</a:t>
            </a:r>
            <a:endParaRPr lang="en-US" sz="1350" dirty="0"/>
          </a:p>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Used the learned embedding features to build both regression and classification models for predicting user course ratings and rating categories.</a:t>
            </a:r>
            <a:endParaRPr lang="en-US" sz="1350" dirty="0"/>
          </a:p>
          <a:p>
            <a:pPr marL="342900" indent="-342900">
              <a:lnSpc>
                <a:spcPct val="115000"/>
              </a:lnSpc>
              <a:spcAft>
                <a:spcPts val="1400"/>
              </a:spcAft>
              <a:buSzPct val="100000"/>
              <a:buChar char="•"/>
            </a:pPr>
            <a:r>
              <a:rPr lang="en-US" sz="1350" dirty="0">
                <a:solidFill>
                  <a:srgbClr val="FFFFFF"/>
                </a:solidFill>
                <a:latin typeface="Arial" pitchFamily="34" charset="0"/>
                <a:ea typeface="Arial" pitchFamily="34" charset="-122"/>
                <a:cs typeface="Arial" pitchFamily="34" charset="-120"/>
              </a:rPr>
              <a:t>Compared multiple recommendation approaches to understand how different machine learning techniques can be used to generate personalized course recommendations.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INTRODUCTION</a:t>
            </a:r>
            <a:endParaRPr lang="en-US" sz="2600" dirty="0"/>
          </a:p>
        </p:txBody>
      </p:sp>
      <p:pic>
        <p:nvPicPr>
          <p:cNvPr id="3" name="Image 0" descr="/home/claude/assets/icon_books.png">    </p:cNvPr>
          <p:cNvPicPr>
            <a:picLocks noChangeAspect="1"/>
          </p:cNvPicPr>
          <p:nvPr/>
        </p:nvPicPr>
        <p:blipFill>
          <a:blip r:embed="rId1"/>
          <a:stretch>
            <a:fillRect/>
          </a:stretch>
        </p:blipFill>
        <p:spPr>
          <a:xfrm>
            <a:off x="548640" y="2011680"/>
            <a:ext cx="2468880" cy="2468880"/>
          </a:xfrm>
          <a:prstGeom prst="rect">
            <a:avLst/>
          </a:prstGeom>
        </p:spPr>
      </p:pic>
      <p:sp>
        <p:nvSpPr>
          <p:cNvPr id="4" name="Text 1"/>
          <p:cNvSpPr/>
          <p:nvPr/>
        </p:nvSpPr>
        <p:spPr>
          <a:xfrm>
            <a:off x="3474720" y="2103120"/>
            <a:ext cx="8138160" cy="3200400"/>
          </a:xfrm>
          <a:prstGeom prst="rect">
            <a:avLst/>
          </a:prstGeom>
          <a:noFill/>
          <a:ln/>
        </p:spPr>
        <p:txBody>
          <a:bodyPr wrap="square" lIns="0" tIns="0" rIns="0" bIns="0" rtlCol="0" anchor="t"/>
          <a:lstStyle/>
          <a:p>
            <a:pPr indent="0" marL="0">
              <a:lnSpc>
                <a:spcPct val="130000"/>
              </a:lnSpc>
              <a:buNone/>
            </a:pPr>
            <a:r>
              <a:rPr lang="en-US" sz="1600" dirty="0">
                <a:solidFill>
                  <a:srgbClr val="FFFFFF"/>
                </a:solidFill>
                <a:latin typeface="Arial" pitchFamily="34" charset="0"/>
                <a:ea typeface="Arial" pitchFamily="34" charset="-122"/>
                <a:cs typeface="Arial" pitchFamily="34" charset="-120"/>
              </a:rPr>
              <a:t>Recommender systems help users discover relevant items by learning from course information and user interactions. In this project, different recommendation techniques were implemented and compared using an online course dataset. The work started with data exploration and feature engineering, followed by content-based filtering, clustering, collaborative filtering, and neural network-based recommendation models. Finally, the learned embeddings were used to build regression and classification models for predicting course ratings and recommendations.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METHODOLOGY</a:t>
            </a:r>
            <a:endParaRPr lang="en-US" sz="2600" dirty="0"/>
          </a:p>
        </p:txBody>
      </p:sp>
      <p:pic>
        <p:nvPicPr>
          <p:cNvPr id="3" name="Image 0" descr="/home/claude/assets/icon_newspaper.png">    </p:cNvPr>
          <p:cNvPicPr>
            <a:picLocks noChangeAspect="1"/>
          </p:cNvPicPr>
          <p:nvPr/>
        </p:nvPicPr>
        <p:blipFill>
          <a:blip r:embed="rId1"/>
          <a:stretch>
            <a:fillRect/>
          </a:stretch>
        </p:blipFill>
        <p:spPr>
          <a:xfrm>
            <a:off x="548640" y="2103120"/>
            <a:ext cx="2377440" cy="2377440"/>
          </a:xfrm>
          <a:prstGeom prst="rect">
            <a:avLst/>
          </a:prstGeom>
        </p:spPr>
      </p:pic>
      <p:sp>
        <p:nvSpPr>
          <p:cNvPr id="4" name="Text 1"/>
          <p:cNvSpPr/>
          <p:nvPr/>
        </p:nvSpPr>
        <p:spPr>
          <a:xfrm>
            <a:off x="3291840" y="1463040"/>
            <a:ext cx="8321040" cy="49377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Explored the dataset to understand courses and user interactions.</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Prepared the data for building recommendation models.</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Created Bag of Words (BoW) features from course information.</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Built content-based recommenders using course similarity and user profiles.</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Grouped similar users using clustering techniques.</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Developed collaborative filtering models using KNN and NMF.</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Learned user and course embeddings with a neural collaborative filtering model.</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Trained regression and classification models using the learned embeddings.</a:t>
            </a:r>
            <a:endParaRPr lang="en-US" sz="1400" dirty="0"/>
          </a:p>
          <a:p>
            <a:pPr marL="342900" indent="-342900">
              <a:lnSpc>
                <a:spcPct val="115000"/>
              </a:lnSpc>
              <a:spcAft>
                <a:spcPts val="1400"/>
              </a:spcAft>
              <a:buSzPct val="100000"/>
              <a:buChar char="•"/>
            </a:pPr>
            <a:r>
              <a:rPr lang="en-US" sz="1400" dirty="0">
                <a:solidFill>
                  <a:srgbClr val="FFFFFF"/>
                </a:solidFill>
                <a:latin typeface="Arial" pitchFamily="34" charset="0"/>
                <a:ea typeface="Arial" pitchFamily="34" charset="-122"/>
                <a:cs typeface="Arial" pitchFamily="34" charset="-120"/>
              </a:rPr>
              <a:t>Compared different models to evaluate their recommendation performance.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WORD CLOUD OF COURSE TITLES</a:t>
            </a:r>
            <a:endParaRPr lang="en-US" sz="2600" dirty="0"/>
          </a:p>
        </p:txBody>
      </p:sp>
      <p:pic>
        <p:nvPicPr>
          <p:cNvPr id="3" name="Image 0" descr="/home/claude/assets/wordcloud.png">    </p:cNvPr>
          <p:cNvPicPr>
            <a:picLocks noChangeAspect="1"/>
          </p:cNvPicPr>
          <p:nvPr/>
        </p:nvPicPr>
        <p:blipFill>
          <a:blip r:embed="rId1"/>
          <a:stretch>
            <a:fillRect/>
          </a:stretch>
        </p:blipFill>
        <p:spPr>
          <a:xfrm>
            <a:off x="548640" y="1371600"/>
            <a:ext cx="7863840" cy="3977640"/>
          </a:xfrm>
          <a:prstGeom prst="rect">
            <a:avLst/>
          </a:prstGeom>
        </p:spPr>
      </p:pic>
      <p:sp>
        <p:nvSpPr>
          <p:cNvPr id="4" name="Text 1"/>
          <p:cNvSpPr/>
          <p:nvPr/>
        </p:nvSpPr>
        <p:spPr>
          <a:xfrm>
            <a:off x="8595360" y="1371600"/>
            <a:ext cx="3108960" cy="4114800"/>
          </a:xfrm>
          <a:prstGeom prst="rect">
            <a:avLst/>
          </a:prstGeom>
          <a:noFill/>
          <a:ln/>
        </p:spPr>
        <p:txBody>
          <a:bodyPr wrap="square" lIns="0" tIns="0" rIns="0" bIns="0" rtlCol="0" anchor="t"/>
          <a:lstStyle/>
          <a:p>
            <a:pPr indent="0" marL="0">
              <a:lnSpc>
                <a:spcPct val="120000"/>
              </a:lnSpc>
              <a:spcAft>
                <a:spcPts val="600"/>
              </a:spcAft>
              <a:buNone/>
            </a:pPr>
            <a:r>
              <a:rPr lang="en-US" sz="1250" b="1" dirty="0">
                <a:solidFill>
                  <a:srgbClr val="ED8428"/>
                </a:solidFill>
                <a:latin typeface="Arial" pitchFamily="34" charset="0"/>
                <a:ea typeface="Arial" pitchFamily="34" charset="-122"/>
                <a:cs typeface="Arial" pitchFamily="34" charset="-120"/>
              </a:rPr>
              <a:t>How it was built</a:t>
            </a:r>
            <a:endParaRPr lang="en-US" sz="1250" dirty="0"/>
          </a:p>
          <a:p>
            <a:pPr indent="0" marL="0">
              <a:lnSpc>
                <a:spcPct val="120000"/>
              </a:lnSpc>
              <a:spcAft>
                <a:spcPts val="1400"/>
              </a:spcAft>
              <a:buNone/>
            </a:pPr>
            <a:r>
              <a:rPr lang="en-US" sz="1250" dirty="0">
                <a:solidFill>
                  <a:srgbClr val="FFFFFF"/>
                </a:solidFill>
                <a:latin typeface="Arial" pitchFamily="34" charset="0"/>
                <a:ea typeface="Arial" pitchFamily="34" charset="-122"/>
                <a:cs typeface="Arial" pitchFamily="34" charset="-120"/>
              </a:rPr>
              <a:t>All course titles were combined into one text block, and common filler words ("getting started", "using", "enabling", "template", "university", "end", "introduction", "basic") were removed before generating the cloud.</a:t>
            </a:r>
            <a:endParaRPr lang="en-US" sz="1250" dirty="0"/>
          </a:p>
          <a:p>
            <a:pPr indent="0" marL="0">
              <a:lnSpc>
                <a:spcPct val="120000"/>
              </a:lnSpc>
              <a:spcAft>
                <a:spcPts val="600"/>
              </a:spcAft>
              <a:buNone/>
            </a:pPr>
            <a:r>
              <a:rPr lang="en-US" sz="1250" b="1" dirty="0">
                <a:solidFill>
                  <a:srgbClr val="ED8428"/>
                </a:solidFill>
                <a:latin typeface="Arial" pitchFamily="34" charset="0"/>
                <a:ea typeface="Arial" pitchFamily="34" charset="-122"/>
                <a:cs typeface="Arial" pitchFamily="34" charset="-120"/>
              </a:rPr>
              <a:t>What it shows</a:t>
            </a:r>
            <a:endParaRPr lang="en-US" sz="1250" dirty="0"/>
          </a:p>
          <a:p>
            <a:pPr indent="0" marL="0">
              <a:lnSpc>
                <a:spcPct val="120000"/>
              </a:lnSpc>
              <a:buNone/>
            </a:pPr>
            <a:r>
              <a:rPr lang="en-US" sz="1250" dirty="0">
                <a:solidFill>
                  <a:srgbClr val="FFFFFF"/>
                </a:solidFill>
                <a:latin typeface="Arial" pitchFamily="34" charset="0"/>
                <a:ea typeface="Arial" pitchFamily="34" charset="-122"/>
                <a:cs typeface="Arial" pitchFamily="34" charset="-120"/>
              </a:rPr>
              <a:t>The catalog is dominated by IT and data skills — python, data science, machine learning, big data, ai, tensorflow, container, cloud — confirming the courses are focused on in-demand tech topics.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COURSE GENRE &amp; ENROLLMENT ANALYSIS</a:t>
            </a:r>
            <a:endParaRPr lang="en-US" sz="2600" dirty="0"/>
          </a:p>
        </p:txBody>
      </p:sp>
      <p:sp>
        <p:nvSpPr>
          <p:cNvPr id="3" name="Text 1"/>
          <p:cNvSpPr/>
          <p:nvPr/>
        </p:nvSpPr>
        <p:spPr>
          <a:xfrm>
            <a:off x="548640" y="1325880"/>
            <a:ext cx="5486400" cy="320040"/>
          </a:xfrm>
          <a:prstGeom prst="rect">
            <a:avLst/>
          </a:prstGeom>
          <a:noFill/>
          <a:ln/>
        </p:spPr>
        <p:txBody>
          <a:bodyPr wrap="square" lIns="0" tIns="0" rIns="0" bIns="0" rtlCol="0" anchor="ctr"/>
          <a:lstStyle/>
          <a:p>
            <a:pPr indent="0" marL="0">
              <a:buNone/>
            </a:pPr>
            <a:r>
              <a:rPr lang="en-US" sz="1300" b="1" dirty="0">
                <a:solidFill>
                  <a:srgbClr val="ED8428"/>
                </a:solidFill>
                <a:latin typeface="Arial" pitchFamily="34" charset="0"/>
                <a:ea typeface="Arial" pitchFamily="34" charset="-122"/>
                <a:cs typeface="Arial" pitchFamily="34" charset="-120"/>
              </a:rPr>
              <a:t>Course counts per genre</a:t>
            </a:r>
            <a:endParaRPr lang="en-US" sz="1300" dirty="0"/>
          </a:p>
        </p:txBody>
      </p:sp>
      <p:graphicFrame>
        <p:nvGraphicFramePr>
          <p:cNvPr id="4" name="Chart 0" descr=""/>
          <p:cNvGraphicFramePr/>
          <p:nvPr/>
        </p:nvGraphicFramePr>
        <p:xfrm>
          <a:off x="457200" y="1645920"/>
          <a:ext cx="576072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92240" y="1325880"/>
            <a:ext cx="5120640" cy="320040"/>
          </a:xfrm>
          <a:prstGeom prst="rect">
            <a:avLst/>
          </a:prstGeom>
          <a:noFill/>
          <a:ln/>
        </p:spPr>
        <p:txBody>
          <a:bodyPr wrap="square" lIns="0" tIns="0" rIns="0" bIns="0" rtlCol="0" anchor="ctr"/>
          <a:lstStyle/>
          <a:p>
            <a:pPr indent="0" marL="0">
              <a:buNone/>
            </a:pPr>
            <a:r>
              <a:rPr lang="en-US" sz="1300" b="1" dirty="0">
                <a:solidFill>
                  <a:srgbClr val="ED8428"/>
                </a:solidFill>
                <a:latin typeface="Arial" pitchFamily="34" charset="0"/>
                <a:ea typeface="Arial" pitchFamily="34" charset="-122"/>
                <a:cs typeface="Arial" pitchFamily="34" charset="-120"/>
              </a:rPr>
              <a:t>Distribution of user enrollment counts</a:t>
            </a:r>
            <a:endParaRPr lang="en-US" sz="1300" dirty="0"/>
          </a:p>
        </p:txBody>
      </p:sp>
      <p:pic>
        <p:nvPicPr>
          <p:cNvPr id="6" name="Image 0" descr="/home/claude/assets/enrollment_hist.png">    </p:cNvPr>
          <p:cNvPicPr>
            <a:picLocks noChangeAspect="1"/>
          </p:cNvPicPr>
          <p:nvPr/>
        </p:nvPicPr>
        <p:blipFill>
          <a:blip r:embed="rId2"/>
          <a:stretch>
            <a:fillRect/>
          </a:stretch>
        </p:blipFill>
        <p:spPr>
          <a:xfrm>
            <a:off x="6492240" y="1691640"/>
            <a:ext cx="5029200" cy="3108960"/>
          </a:xfrm>
          <a:prstGeom prst="rect">
            <a:avLst/>
          </a:prstGeom>
        </p:spPr>
      </p:pic>
      <p:sp>
        <p:nvSpPr>
          <p:cNvPr id="7" name="Text 3"/>
          <p:cNvSpPr/>
          <p:nvPr/>
        </p:nvSpPr>
        <p:spPr>
          <a:xfrm>
            <a:off x="6492240" y="4846320"/>
            <a:ext cx="5029200" cy="1371600"/>
          </a:xfrm>
          <a:prstGeom prst="rect">
            <a:avLst/>
          </a:prstGeom>
          <a:noFill/>
          <a:ln/>
        </p:spPr>
        <p:txBody>
          <a:bodyPr wrap="square" lIns="0" tIns="0" rIns="0" bIns="0" rtlCol="0" anchor="t"/>
          <a:lstStyle/>
          <a:p>
            <a:pPr marL="342900" indent="-342900">
              <a:lnSpc>
                <a:spcPct val="120000"/>
              </a:lnSpc>
              <a:buSzPct val="100000"/>
              <a:buChar char="•"/>
            </a:pPr>
            <a:r>
              <a:rPr lang="en-US" sz="1150" dirty="0">
                <a:solidFill>
                  <a:srgbClr val="FFFFFF"/>
                </a:solidFill>
                <a:latin typeface="Arial" pitchFamily="34" charset="0"/>
                <a:ea typeface="Arial" pitchFamily="34" charset="-122"/>
                <a:cs typeface="Arial" pitchFamily="34" charset="-120"/>
              </a:rPr>
              <a:t>33,901 learners in the dataset</a:t>
            </a:r>
            <a:endParaRPr lang="en-US" sz="1150" dirty="0"/>
          </a:p>
          <a:p>
            <a:pPr marL="342900" indent="-342900">
              <a:lnSpc>
                <a:spcPct val="120000"/>
              </a:lnSpc>
              <a:buSzPct val="100000"/>
              <a:buChar char="•"/>
            </a:pPr>
            <a:r>
              <a:rPr lang="en-US" sz="1150" dirty="0">
                <a:solidFill>
                  <a:srgbClr val="FFFFFF"/>
                </a:solidFill>
                <a:latin typeface="Arial" pitchFamily="34" charset="0"/>
                <a:ea typeface="Arial" pitchFamily="34" charset="-122"/>
                <a:cs typeface="Arial" pitchFamily="34" charset="-120"/>
              </a:rPr>
              <a:t>Average of 6.88 courses enrolled per learner (std 5.82)</a:t>
            </a:r>
            <a:endParaRPr lang="en-US" sz="1150" dirty="0"/>
          </a:p>
          <a:p>
            <a:pPr marL="342900" indent="-342900">
              <a:lnSpc>
                <a:spcPct val="120000"/>
              </a:lnSpc>
              <a:buSzPct val="100000"/>
              <a:buChar char="•"/>
            </a:pPr>
            <a:r>
              <a:rPr lang="en-US" sz="1150" dirty="0">
                <a:solidFill>
                  <a:srgbClr val="FFFFFF"/>
                </a:solidFill>
                <a:latin typeface="Arial" pitchFamily="34" charset="0"/>
                <a:ea typeface="Arial" pitchFamily="34" charset="-122"/>
                <a:cs typeface="Arial" pitchFamily="34" charset="-120"/>
              </a:rPr>
              <a:t>Half of all learners enrolled in 6 or fewer courses; the most active learner enrolled in 61</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20 MOST POPULAR COURSES</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394960" cy="4846320"/>
        </p:xfrm>
        <a:graphic>
          <a:graphicData uri="http://schemas.openxmlformats.org/drawingml/2006/table">
            <a:tbl>
              <a:tblPr/>
              <a:tblGrid>
                <a:gridCol w="457200"/>
                <a:gridCol w="3840480"/>
                <a:gridCol w="1097280"/>
              </a:tblGrid>
              <a:tr h="440575">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l" indent="0" marL="0">
                        <a:buNone/>
                      </a:pPr>
                      <a:r>
                        <a:rPr lang="en-US" sz="1050" b="1" dirty="0">
                          <a:solidFill>
                            <a:srgbClr val="000000"/>
                          </a:solidFill>
                          <a:latin typeface="Arial" pitchFamily="34" charset="0"/>
                          <a:ea typeface="Arial" pitchFamily="34" charset="-122"/>
                          <a:cs typeface="Arial" pitchFamily="34" charset="-120"/>
                        </a:rPr>
                        <a:t>Course</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r" indent="0" marL="0">
                        <a:buNone/>
                      </a:pPr>
                      <a:r>
                        <a:rPr lang="en-US" sz="1050" b="1" dirty="0">
                          <a:solidFill>
                            <a:srgbClr val="000000"/>
                          </a:solidFill>
                          <a:latin typeface="Arial" pitchFamily="34" charset="0"/>
                          <a:ea typeface="Arial" pitchFamily="34" charset="-122"/>
                          <a:cs typeface="Arial" pitchFamily="34" charset="-120"/>
                        </a:rPr>
                        <a:t>Ratings</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python for data science</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14,936</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introduction to data science</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14,477</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big data 101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13,291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hadoop 101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10,599</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data analysis with python</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8,303</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data science methodology</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7,719</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machine learning with python</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7,644</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spark fundamentals i</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7,551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data science hands on with open source tools</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7,199</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blockchain essentials</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6,719</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09360" y="1463040"/>
          <a:ext cx="5394960" cy="4846320"/>
        </p:xfrm>
        <a:graphic>
          <a:graphicData uri="http://schemas.openxmlformats.org/drawingml/2006/table">
            <a:tbl>
              <a:tblPr/>
              <a:tblGrid>
                <a:gridCol w="457200"/>
                <a:gridCol w="3840480"/>
                <a:gridCol w="1097280"/>
              </a:tblGrid>
              <a:tr h="440575">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l" indent="0" marL="0">
                        <a:buNone/>
                      </a:pPr>
                      <a:r>
                        <a:rPr lang="en-US" sz="1050" b="1" dirty="0">
                          <a:solidFill>
                            <a:srgbClr val="000000"/>
                          </a:solidFill>
                          <a:latin typeface="Arial" pitchFamily="34" charset="0"/>
                          <a:ea typeface="Arial" pitchFamily="34" charset="-122"/>
                          <a:cs typeface="Arial" pitchFamily="34" charset="-120"/>
                        </a:rPr>
                        <a:t>Course</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r" indent="0" marL="0">
                        <a:buNone/>
                      </a:pPr>
                      <a:r>
                        <a:rPr lang="en-US" sz="1050" b="1" dirty="0">
                          <a:solidFill>
                            <a:srgbClr val="000000"/>
                          </a:solidFill>
                          <a:latin typeface="Arial" pitchFamily="34" charset="0"/>
                          <a:ea typeface="Arial" pitchFamily="34" charset="-122"/>
                          <a:cs typeface="Arial" pitchFamily="34" charset="-120"/>
                        </a:rPr>
                        <a:t>Ratings</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data visualization with python</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6,709</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deep learning 101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6,323</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13</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build your own chatbot</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5,512</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14</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r for data science</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5,237</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15</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statistics 101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5,015</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16</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introduction to cloud</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4,983</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17</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docker essentials — a developer introduction</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4,480</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18</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sql and relational databases 101</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3,697</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19</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mapreduce and yarn</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3,670</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440575">
                <a:tc>
                  <a:txBody>
                    <a:bodyPr/>
                    <a:lstStyle/>
                    <a:p>
                      <a:pPr algn="ctr" indent="0" marL="0">
                        <a:buNone/>
                      </a:pPr>
                      <a:r>
                        <a:rPr lang="en-US" sz="1050" dirty="0">
                          <a:solidFill>
                            <a:srgbClr val="FFFFFF"/>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050" dirty="0">
                          <a:solidFill>
                            <a:srgbClr val="FFFFFF"/>
                          </a:solidFill>
                          <a:latin typeface="Arial" pitchFamily="34" charset="0"/>
                          <a:ea typeface="Arial" pitchFamily="34" charset="-122"/>
                          <a:cs typeface="Arial" pitchFamily="34" charset="-120"/>
                        </a:rPr>
                        <a:t>data privacy fundamentals</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050" dirty="0">
                          <a:solidFill>
                            <a:srgbClr val="FFFFFF"/>
                          </a:solidFill>
                          <a:latin typeface="Arial" pitchFamily="34" charset="0"/>
                          <a:ea typeface="Arial" pitchFamily="34" charset="-122"/>
                          <a:cs typeface="Arial" pitchFamily="34" charset="-120"/>
                        </a:rPr>
                        <a:t>3,624</a:t>
                      </a:r>
                      <a:endParaRPr lang="en-US" sz="10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RESULTS</a:t>
            </a:r>
            <a:endParaRPr lang="en-US" sz="2600" dirty="0"/>
          </a:p>
        </p:txBody>
      </p:sp>
      <p:sp>
        <p:nvSpPr>
          <p:cNvPr id="3" name="Text 1"/>
          <p:cNvSpPr/>
          <p:nvPr/>
        </p:nvSpPr>
        <p:spPr>
          <a:xfrm>
            <a:off x="548640" y="1463040"/>
            <a:ext cx="10789920" cy="49377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Successfully explored and analyzed the online course dataset.</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Generated course recommendations using content-based filtering, collaborative filtering, and neural network approaches.</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Built course similarity and user profile models to recommend relevant courses.</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Grouped users with similar interests using clustering techniques.</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Learned user and course embeddings to capture interaction patterns.</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Trained regression and classification models using the learned embeddings to predict course ratings and recommendation outcomes.</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Compared different recommendation techniques to understand their strengths and how they generate personalized recommendations.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CONTENT-BASED RECOMMENDER — USER PROFILE WORKFLOW</a:t>
            </a:r>
            <a:endParaRPr lang="en-US" sz="2600" dirty="0"/>
          </a:p>
        </p:txBody>
      </p:sp>
      <p:sp>
        <p:nvSpPr>
          <p:cNvPr id="3" name="Shape 1"/>
          <p:cNvSpPr/>
          <p:nvPr/>
        </p:nvSpPr>
        <p:spPr>
          <a:xfrm>
            <a:off x="1339596" y="1682496"/>
            <a:ext cx="9509760" cy="566928"/>
          </a:xfrm>
          <a:prstGeom prst="roundRect">
            <a:avLst>
              <a:gd name="adj" fmla="val 12903"/>
            </a:avLst>
          </a:prstGeom>
          <a:solidFill>
            <a:srgbClr val="161616"/>
          </a:solidFill>
          <a:ln w="19050">
            <a:solidFill>
              <a:srgbClr val="ED8428"/>
            </a:solidFill>
            <a:prstDash val="solid"/>
          </a:ln>
        </p:spPr>
      </p:sp>
      <p:sp>
        <p:nvSpPr>
          <p:cNvPr id="4" name="Text 2"/>
          <p:cNvSpPr/>
          <p:nvPr/>
        </p:nvSpPr>
        <p:spPr>
          <a:xfrm>
            <a:off x="1476756" y="168249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1. Build user profile vector = dot product of the user's rating vector and the course genre matrix</a:t>
            </a:r>
            <a:endParaRPr lang="en-US" sz="1250" dirty="0"/>
          </a:p>
        </p:txBody>
      </p:sp>
      <p:sp>
        <p:nvSpPr>
          <p:cNvPr id="5" name="Shape 3"/>
          <p:cNvSpPr/>
          <p:nvPr/>
        </p:nvSpPr>
        <p:spPr>
          <a:xfrm>
            <a:off x="6094476" y="2249424"/>
            <a:ext cx="0" cy="146304"/>
          </a:xfrm>
          <a:prstGeom prst="line">
            <a:avLst/>
          </a:prstGeom>
          <a:noFill/>
          <a:ln w="25400">
            <a:solidFill>
              <a:srgbClr val="ED8428"/>
            </a:solidFill>
            <a:prstDash val="solid"/>
            <a:tailEnd type="triangle"/>
          </a:ln>
        </p:spPr>
      </p:sp>
      <p:sp>
        <p:nvSpPr>
          <p:cNvPr id="6" name="Shape 4"/>
          <p:cNvSpPr/>
          <p:nvPr/>
        </p:nvSpPr>
        <p:spPr>
          <a:xfrm>
            <a:off x="1339596" y="2395728"/>
            <a:ext cx="9509760" cy="566928"/>
          </a:xfrm>
          <a:prstGeom prst="roundRect">
            <a:avLst>
              <a:gd name="adj" fmla="val 12903"/>
            </a:avLst>
          </a:prstGeom>
          <a:solidFill>
            <a:srgbClr val="161616"/>
          </a:solidFill>
          <a:ln w="19050">
            <a:solidFill>
              <a:srgbClr val="ED8428"/>
            </a:solidFill>
            <a:prstDash val="solid"/>
          </a:ln>
        </p:spPr>
      </p:sp>
      <p:sp>
        <p:nvSpPr>
          <p:cNvPr id="7" name="Text 5"/>
          <p:cNvSpPr/>
          <p:nvPr/>
        </p:nvSpPr>
        <p:spPr>
          <a:xfrm>
            <a:off x="1476756" y="2395728"/>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2. For each test user, find their unseen / not-yet-enrolled courses</a:t>
            </a:r>
            <a:endParaRPr lang="en-US" sz="1250" dirty="0"/>
          </a:p>
        </p:txBody>
      </p:sp>
      <p:sp>
        <p:nvSpPr>
          <p:cNvPr id="8" name="Shape 6"/>
          <p:cNvSpPr/>
          <p:nvPr/>
        </p:nvSpPr>
        <p:spPr>
          <a:xfrm>
            <a:off x="6094476" y="2962656"/>
            <a:ext cx="0" cy="146304"/>
          </a:xfrm>
          <a:prstGeom prst="line">
            <a:avLst/>
          </a:prstGeom>
          <a:noFill/>
          <a:ln w="25400">
            <a:solidFill>
              <a:srgbClr val="ED8428"/>
            </a:solidFill>
            <a:prstDash val="solid"/>
            <a:tailEnd type="triangle"/>
          </a:ln>
        </p:spPr>
      </p:sp>
      <p:sp>
        <p:nvSpPr>
          <p:cNvPr id="9" name="Shape 7"/>
          <p:cNvSpPr/>
          <p:nvPr/>
        </p:nvSpPr>
        <p:spPr>
          <a:xfrm>
            <a:off x="1339596" y="3108960"/>
            <a:ext cx="9509760" cy="566928"/>
          </a:xfrm>
          <a:prstGeom prst="roundRect">
            <a:avLst>
              <a:gd name="adj" fmla="val 12903"/>
            </a:avLst>
          </a:prstGeom>
          <a:solidFill>
            <a:srgbClr val="161616"/>
          </a:solidFill>
          <a:ln w="19050">
            <a:solidFill>
              <a:srgbClr val="ED8428"/>
            </a:solidFill>
            <a:prstDash val="solid"/>
          </a:ln>
        </p:spPr>
      </p:sp>
      <p:sp>
        <p:nvSpPr>
          <p:cNvPr id="10" name="Text 8"/>
          <p:cNvSpPr/>
          <p:nvPr/>
        </p:nvSpPr>
        <p:spPr>
          <a:xfrm>
            <a:off x="1476756" y="3108960"/>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3. Get the genre vectors for those unseen courses</a:t>
            </a:r>
            <a:endParaRPr lang="en-US" sz="1250" dirty="0"/>
          </a:p>
        </p:txBody>
      </p:sp>
      <p:sp>
        <p:nvSpPr>
          <p:cNvPr id="11" name="Shape 9"/>
          <p:cNvSpPr/>
          <p:nvPr/>
        </p:nvSpPr>
        <p:spPr>
          <a:xfrm>
            <a:off x="6094476" y="3675888"/>
            <a:ext cx="0" cy="146304"/>
          </a:xfrm>
          <a:prstGeom prst="line">
            <a:avLst/>
          </a:prstGeom>
          <a:noFill/>
          <a:ln w="25400">
            <a:solidFill>
              <a:srgbClr val="ED8428"/>
            </a:solidFill>
            <a:prstDash val="solid"/>
            <a:tailEnd type="triangle"/>
          </a:ln>
        </p:spPr>
      </p:sp>
      <p:sp>
        <p:nvSpPr>
          <p:cNvPr id="12" name="Shape 10"/>
          <p:cNvSpPr/>
          <p:nvPr/>
        </p:nvSpPr>
        <p:spPr>
          <a:xfrm>
            <a:off x="1339596" y="3822192"/>
            <a:ext cx="9509760" cy="566928"/>
          </a:xfrm>
          <a:prstGeom prst="roundRect">
            <a:avLst>
              <a:gd name="adj" fmla="val 12903"/>
            </a:avLst>
          </a:prstGeom>
          <a:solidFill>
            <a:srgbClr val="161616"/>
          </a:solidFill>
          <a:ln w="19050">
            <a:solidFill>
              <a:srgbClr val="ED8428"/>
            </a:solidFill>
            <a:prstDash val="solid"/>
          </a:ln>
        </p:spPr>
      </p:sp>
      <p:sp>
        <p:nvSpPr>
          <p:cNvPr id="13" name="Text 11"/>
          <p:cNvSpPr/>
          <p:nvPr/>
        </p:nvSpPr>
        <p:spPr>
          <a:xfrm>
            <a:off x="1476756" y="3822192"/>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4. Recommendation score = dot product of user profile vector and course genre vector</a:t>
            </a:r>
            <a:endParaRPr lang="en-US" sz="1250" dirty="0"/>
          </a:p>
        </p:txBody>
      </p:sp>
      <p:sp>
        <p:nvSpPr>
          <p:cNvPr id="14" name="Shape 12"/>
          <p:cNvSpPr/>
          <p:nvPr/>
        </p:nvSpPr>
        <p:spPr>
          <a:xfrm>
            <a:off x="6094476" y="4389120"/>
            <a:ext cx="0" cy="146304"/>
          </a:xfrm>
          <a:prstGeom prst="line">
            <a:avLst/>
          </a:prstGeom>
          <a:noFill/>
          <a:ln w="25400">
            <a:solidFill>
              <a:srgbClr val="ED8428"/>
            </a:solidFill>
            <a:prstDash val="solid"/>
            <a:tailEnd type="triangle"/>
          </a:ln>
        </p:spPr>
      </p:sp>
      <p:sp>
        <p:nvSpPr>
          <p:cNvPr id="15" name="Shape 13"/>
          <p:cNvSpPr/>
          <p:nvPr/>
        </p:nvSpPr>
        <p:spPr>
          <a:xfrm>
            <a:off x="1339596" y="4535424"/>
            <a:ext cx="9509760" cy="566928"/>
          </a:xfrm>
          <a:prstGeom prst="roundRect">
            <a:avLst>
              <a:gd name="adj" fmla="val 12903"/>
            </a:avLst>
          </a:prstGeom>
          <a:solidFill>
            <a:srgbClr val="161616"/>
          </a:solidFill>
          <a:ln w="19050">
            <a:solidFill>
              <a:srgbClr val="ED8428"/>
            </a:solidFill>
            <a:prstDash val="solid"/>
          </a:ln>
        </p:spPr>
      </p:sp>
      <p:sp>
        <p:nvSpPr>
          <p:cNvPr id="16" name="Text 14"/>
          <p:cNvSpPr/>
          <p:nvPr/>
        </p:nvSpPr>
        <p:spPr>
          <a:xfrm>
            <a:off x="1476756" y="4535424"/>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5. Apply a recommendation score threshold (10.0)</a:t>
            </a:r>
            <a:endParaRPr lang="en-US" sz="1250" dirty="0"/>
          </a:p>
        </p:txBody>
      </p:sp>
      <p:sp>
        <p:nvSpPr>
          <p:cNvPr id="17" name="Shape 15"/>
          <p:cNvSpPr/>
          <p:nvPr/>
        </p:nvSpPr>
        <p:spPr>
          <a:xfrm>
            <a:off x="6094476" y="5102352"/>
            <a:ext cx="0" cy="146304"/>
          </a:xfrm>
          <a:prstGeom prst="line">
            <a:avLst/>
          </a:prstGeom>
          <a:noFill/>
          <a:ln w="25400">
            <a:solidFill>
              <a:srgbClr val="ED8428"/>
            </a:solidFill>
            <a:prstDash val="solid"/>
            <a:tailEnd type="triangle"/>
          </a:ln>
        </p:spPr>
      </p:sp>
      <p:sp>
        <p:nvSpPr>
          <p:cNvPr id="18" name="Shape 16"/>
          <p:cNvSpPr/>
          <p:nvPr/>
        </p:nvSpPr>
        <p:spPr>
          <a:xfrm>
            <a:off x="1339596" y="5248656"/>
            <a:ext cx="9509760" cy="566928"/>
          </a:xfrm>
          <a:prstGeom prst="roundRect">
            <a:avLst>
              <a:gd name="adj" fmla="val 12903"/>
            </a:avLst>
          </a:prstGeom>
          <a:solidFill>
            <a:srgbClr val="161616"/>
          </a:solidFill>
          <a:ln w="19050">
            <a:solidFill>
              <a:srgbClr val="ED8428"/>
            </a:solidFill>
            <a:prstDash val="solid"/>
          </a:ln>
        </p:spPr>
      </p:sp>
      <p:sp>
        <p:nvSpPr>
          <p:cNvPr id="19" name="Text 17"/>
          <p:cNvSpPr/>
          <p:nvPr/>
        </p:nvSpPr>
        <p:spPr>
          <a:xfrm>
            <a:off x="1476756" y="524865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6. Recommend the courses that score above the threshold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USER PROFILE-BASED RECOMMENDER — EVALUATION RESULTS</a:t>
            </a:r>
            <a:endParaRPr lang="en-US" sz="2600" dirty="0"/>
          </a:p>
        </p:txBody>
      </p:sp>
      <p:sp>
        <p:nvSpPr>
          <p:cNvPr id="3" name="Text 1"/>
          <p:cNvSpPr/>
          <p:nvPr/>
        </p:nvSpPr>
        <p:spPr>
          <a:xfrm>
            <a:off x="548640" y="1463040"/>
            <a:ext cx="5120640" cy="365760"/>
          </a:xfrm>
          <a:prstGeom prst="rect">
            <a:avLst/>
          </a:prstGeom>
          <a:noFill/>
          <a:ln/>
        </p:spPr>
        <p:txBody>
          <a:bodyPr wrap="square" lIns="0" tIns="0" rIns="0" bIns="0" rtlCol="0" anchor="ctr"/>
          <a:lstStyle/>
          <a:p>
            <a:pPr indent="0" marL="0">
              <a:buNone/>
            </a:pPr>
            <a:r>
              <a:rPr lang="en-US" sz="1400" b="1" dirty="0">
                <a:solidFill>
                  <a:srgbClr val="ED8428"/>
                </a:solidFill>
                <a:latin typeface="Arial" pitchFamily="34" charset="0"/>
                <a:ea typeface="Arial" pitchFamily="34" charset="-122"/>
                <a:cs typeface="Arial" pitchFamily="34" charset="-120"/>
              </a:rPr>
              <a:t>Average new courses recommended per user</a:t>
            </a:r>
            <a:endParaRPr lang="en-US" sz="1400" dirty="0"/>
          </a:p>
        </p:txBody>
      </p:sp>
      <p:sp>
        <p:nvSpPr>
          <p:cNvPr id="4" name="Text 2"/>
          <p:cNvSpPr/>
          <p:nvPr/>
        </p:nvSpPr>
        <p:spPr>
          <a:xfrm>
            <a:off x="548640" y="1828800"/>
            <a:ext cx="5120640" cy="100584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60.82</a:t>
            </a:r>
            <a:endParaRPr lang="en-US" sz="4600" dirty="0"/>
          </a:p>
        </p:txBody>
      </p:sp>
      <p:sp>
        <p:nvSpPr>
          <p:cNvPr id="5" name="Text 3"/>
          <p:cNvSpPr/>
          <p:nvPr/>
        </p:nvSpPr>
        <p:spPr>
          <a:xfrm>
            <a:off x="548640" y="2880360"/>
            <a:ext cx="5120640" cy="548640"/>
          </a:xfrm>
          <a:prstGeom prst="rect">
            <a:avLst/>
          </a:prstGeom>
          <a:noFill/>
          <a:ln/>
        </p:spPr>
        <p:txBody>
          <a:bodyPr wrap="square" lIns="0" tIns="0" rIns="0" bIns="0" rtlCol="0" anchor="ctr"/>
          <a:lstStyle/>
          <a:p>
            <a:pPr indent="0" marL="0">
              <a:buNone/>
            </a:pPr>
            <a:r>
              <a:rPr lang="en-US" sz="1150" i="1" dirty="0">
                <a:solidFill>
                  <a:srgbClr val="B3B3B3"/>
                </a:solidFill>
                <a:latin typeface="Arial" pitchFamily="34" charset="0"/>
                <a:ea typeface="Arial" pitchFamily="34" charset="-122"/>
                <a:cs typeface="Arial" pitchFamily="34" charset="-120"/>
              </a:rPr>
              <a:t>Computed across all test users, using a recommendation score threshold of 10.0</a:t>
            </a:r>
            <a:endParaRPr lang="en-US" sz="1150" dirty="0"/>
          </a:p>
        </p:txBody>
      </p:sp>
      <p:sp>
        <p:nvSpPr>
          <p:cNvPr id="6" name="Text 4"/>
          <p:cNvSpPr/>
          <p:nvPr/>
        </p:nvSpPr>
        <p:spPr>
          <a:xfrm>
            <a:off x="6309360" y="1463040"/>
            <a:ext cx="5303520" cy="365760"/>
          </a:xfrm>
          <a:prstGeom prst="rect">
            <a:avLst/>
          </a:prstGeom>
          <a:noFill/>
          <a:ln/>
        </p:spPr>
        <p:txBody>
          <a:bodyPr wrap="square" lIns="0" tIns="0" rIns="0" bIns="0" rtlCol="0" anchor="ctr"/>
          <a:lstStyle/>
          <a:p>
            <a:pPr indent="0" marL="0">
              <a:buNone/>
            </a:pPr>
            <a:r>
              <a:rPr lang="en-US" sz="1400" b="1" dirty="0">
                <a:solidFill>
                  <a:srgbClr val="ED8428"/>
                </a:solidFill>
                <a:latin typeface="Arial" pitchFamily="34" charset="0"/>
                <a:ea typeface="Arial" pitchFamily="34" charset="-122"/>
                <a:cs typeface="Arial" pitchFamily="34" charset="-120"/>
              </a:rPr>
              <a:t>Top-10 most frequently recommended courses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09360" y="1874520"/>
          <a:ext cx="5303520" cy="4206240"/>
        </p:xfrm>
        <a:graphic>
          <a:graphicData uri="http://schemas.openxmlformats.org/drawingml/2006/table">
            <a:tbl>
              <a:tblPr/>
              <a:tblGrid>
                <a:gridCol w="3291840"/>
                <a:gridCol w="2011680"/>
              </a:tblGrid>
              <a:tr h="382385">
                <a:tc>
                  <a:txBody>
                    <a:bodyPr/>
                    <a:lstStyle/>
                    <a:p>
                      <a:pPr algn="l" indent="0" marL="0">
                        <a:buNone/>
                      </a:pPr>
                      <a:r>
                        <a:rPr lang="en-US" sz="1150" b="1" dirty="0">
                          <a:solidFill>
                            <a:srgbClr val="000000"/>
                          </a:solidFill>
                          <a:latin typeface="Arial" pitchFamily="34" charset="0"/>
                          <a:ea typeface="Arial" pitchFamily="34" charset="-122"/>
                          <a:cs typeface="Arial" pitchFamily="34" charset="-120"/>
                        </a:rPr>
                        <a:t>Course</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r" indent="0" marL="0">
                        <a:buNone/>
                      </a:pPr>
                      <a:r>
                        <a:rPr lang="en-US" sz="1150" b="1" dirty="0">
                          <a:solidFill>
                            <a:srgbClr val="000000"/>
                          </a:solidFill>
                          <a:latin typeface="Arial" pitchFamily="34" charset="0"/>
                          <a:ea typeface="Arial" pitchFamily="34" charset="-122"/>
                          <a:cs typeface="Arial" pitchFamily="34" charset="-120"/>
                        </a:rPr>
                        <a:t>Users recommended to</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TA0106EN</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17,390</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excourse21</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15,656</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excourse22</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15,656</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GPXX0IBEN</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15,644</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ML0122EN</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15,603</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excourse04</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15,062</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excourse06</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15,062</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GPXX0TY1EN</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14,689</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excourse73</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14,464</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excourse72</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14,464</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DIAGRAMMATIC WORKFLOW OF SYSTEM</a:t>
            </a:r>
            <a:endParaRPr lang="en-US" sz="2600" dirty="0"/>
          </a:p>
        </p:txBody>
      </p:sp>
      <p:sp>
        <p:nvSpPr>
          <p:cNvPr id="3" name="Shape 1"/>
          <p:cNvSpPr/>
          <p:nvPr/>
        </p:nvSpPr>
        <p:spPr>
          <a:xfrm>
            <a:off x="2071116" y="1929384"/>
            <a:ext cx="8046720" cy="502920"/>
          </a:xfrm>
          <a:prstGeom prst="roundRect">
            <a:avLst>
              <a:gd name="adj" fmla="val 14545"/>
            </a:avLst>
          </a:prstGeom>
          <a:solidFill>
            <a:srgbClr val="161616"/>
          </a:solidFill>
          <a:ln w="19050">
            <a:solidFill>
              <a:srgbClr val="ED8428"/>
            </a:solidFill>
            <a:prstDash val="solid"/>
          </a:ln>
        </p:spPr>
      </p:sp>
      <p:sp>
        <p:nvSpPr>
          <p:cNvPr id="4" name="Text 2"/>
          <p:cNvSpPr/>
          <p:nvPr/>
        </p:nvSpPr>
        <p:spPr>
          <a:xfrm>
            <a:off x="2208276" y="1929384"/>
            <a:ext cx="777240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Course Dataset</a:t>
            </a:r>
            <a:endParaRPr lang="en-US" sz="1300" dirty="0"/>
          </a:p>
        </p:txBody>
      </p:sp>
      <p:sp>
        <p:nvSpPr>
          <p:cNvPr id="5" name="Shape 3"/>
          <p:cNvSpPr/>
          <p:nvPr/>
        </p:nvSpPr>
        <p:spPr>
          <a:xfrm>
            <a:off x="6094476" y="2432304"/>
            <a:ext cx="0" cy="201168"/>
          </a:xfrm>
          <a:prstGeom prst="line">
            <a:avLst/>
          </a:prstGeom>
          <a:noFill/>
          <a:ln w="25400">
            <a:solidFill>
              <a:srgbClr val="ED8428"/>
            </a:solidFill>
            <a:prstDash val="solid"/>
            <a:tailEnd type="triangle"/>
          </a:ln>
        </p:spPr>
      </p:sp>
      <p:sp>
        <p:nvSpPr>
          <p:cNvPr id="6" name="Shape 4"/>
          <p:cNvSpPr/>
          <p:nvPr/>
        </p:nvSpPr>
        <p:spPr>
          <a:xfrm>
            <a:off x="2071116" y="2633472"/>
            <a:ext cx="8046720" cy="502920"/>
          </a:xfrm>
          <a:prstGeom prst="roundRect">
            <a:avLst>
              <a:gd name="adj" fmla="val 14545"/>
            </a:avLst>
          </a:prstGeom>
          <a:solidFill>
            <a:srgbClr val="161616"/>
          </a:solidFill>
          <a:ln w="19050">
            <a:solidFill>
              <a:srgbClr val="ED8428"/>
            </a:solidFill>
            <a:prstDash val="solid"/>
          </a:ln>
        </p:spPr>
      </p:sp>
      <p:sp>
        <p:nvSpPr>
          <p:cNvPr id="7" name="Text 5"/>
          <p:cNvSpPr/>
          <p:nvPr/>
        </p:nvSpPr>
        <p:spPr>
          <a:xfrm>
            <a:off x="2208276" y="2633472"/>
            <a:ext cx="777240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Data Exploration</a:t>
            </a:r>
            <a:endParaRPr lang="en-US" sz="1300" dirty="0"/>
          </a:p>
        </p:txBody>
      </p:sp>
      <p:sp>
        <p:nvSpPr>
          <p:cNvPr id="8" name="Shape 6"/>
          <p:cNvSpPr/>
          <p:nvPr/>
        </p:nvSpPr>
        <p:spPr>
          <a:xfrm>
            <a:off x="6094476" y="3136392"/>
            <a:ext cx="0" cy="201168"/>
          </a:xfrm>
          <a:prstGeom prst="line">
            <a:avLst/>
          </a:prstGeom>
          <a:noFill/>
          <a:ln w="25400">
            <a:solidFill>
              <a:srgbClr val="ED8428"/>
            </a:solidFill>
            <a:prstDash val="solid"/>
            <a:tailEnd type="triangle"/>
          </a:ln>
        </p:spPr>
      </p:sp>
      <p:sp>
        <p:nvSpPr>
          <p:cNvPr id="9" name="Shape 7"/>
          <p:cNvSpPr/>
          <p:nvPr/>
        </p:nvSpPr>
        <p:spPr>
          <a:xfrm>
            <a:off x="2071116" y="3337560"/>
            <a:ext cx="8046720" cy="502920"/>
          </a:xfrm>
          <a:prstGeom prst="roundRect">
            <a:avLst>
              <a:gd name="adj" fmla="val 14545"/>
            </a:avLst>
          </a:prstGeom>
          <a:solidFill>
            <a:srgbClr val="161616"/>
          </a:solidFill>
          <a:ln w="19050">
            <a:solidFill>
              <a:srgbClr val="ED8428"/>
            </a:solidFill>
            <a:prstDash val="solid"/>
          </a:ln>
        </p:spPr>
      </p:sp>
      <p:sp>
        <p:nvSpPr>
          <p:cNvPr id="10" name="Text 8"/>
          <p:cNvSpPr/>
          <p:nvPr/>
        </p:nvSpPr>
        <p:spPr>
          <a:xfrm>
            <a:off x="2208276" y="3337560"/>
            <a:ext cx="777240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Feature Engineering (BoW)</a:t>
            </a:r>
            <a:endParaRPr lang="en-US" sz="1300" dirty="0"/>
          </a:p>
        </p:txBody>
      </p:sp>
      <p:sp>
        <p:nvSpPr>
          <p:cNvPr id="11" name="Shape 9"/>
          <p:cNvSpPr/>
          <p:nvPr/>
        </p:nvSpPr>
        <p:spPr>
          <a:xfrm>
            <a:off x="6094476" y="3840480"/>
            <a:ext cx="0" cy="201168"/>
          </a:xfrm>
          <a:prstGeom prst="line">
            <a:avLst/>
          </a:prstGeom>
          <a:noFill/>
          <a:ln w="25400">
            <a:solidFill>
              <a:srgbClr val="ED8428"/>
            </a:solidFill>
            <a:prstDash val="solid"/>
            <a:tailEnd type="triangle"/>
          </a:ln>
        </p:spPr>
      </p:sp>
      <p:sp>
        <p:nvSpPr>
          <p:cNvPr id="12" name="Shape 10"/>
          <p:cNvSpPr/>
          <p:nvPr/>
        </p:nvSpPr>
        <p:spPr>
          <a:xfrm>
            <a:off x="2071116" y="4041648"/>
            <a:ext cx="8046720" cy="822960"/>
          </a:xfrm>
          <a:prstGeom prst="roundRect">
            <a:avLst>
              <a:gd name="adj" fmla="val 8889"/>
            </a:avLst>
          </a:prstGeom>
          <a:solidFill>
            <a:srgbClr val="161616"/>
          </a:solidFill>
          <a:ln w="19050">
            <a:solidFill>
              <a:srgbClr val="ED8428"/>
            </a:solidFill>
            <a:prstDash val="solid"/>
          </a:ln>
        </p:spPr>
      </p:sp>
      <p:sp>
        <p:nvSpPr>
          <p:cNvPr id="13" name="Text 11"/>
          <p:cNvSpPr/>
          <p:nvPr/>
        </p:nvSpPr>
        <p:spPr>
          <a:xfrm>
            <a:off x="2208276" y="4041648"/>
            <a:ext cx="7772400" cy="82296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Recommendation Models</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(Content-Based · Clustering · Collaborative Filtering · Neural Collaborative Filtering)</a:t>
            </a:r>
            <a:endParaRPr lang="en-US" sz="1300" dirty="0"/>
          </a:p>
        </p:txBody>
      </p:sp>
      <p:sp>
        <p:nvSpPr>
          <p:cNvPr id="14" name="Shape 12"/>
          <p:cNvSpPr/>
          <p:nvPr/>
        </p:nvSpPr>
        <p:spPr>
          <a:xfrm>
            <a:off x="6094476" y="4864608"/>
            <a:ext cx="0" cy="201168"/>
          </a:xfrm>
          <a:prstGeom prst="line">
            <a:avLst/>
          </a:prstGeom>
          <a:noFill/>
          <a:ln w="25400">
            <a:solidFill>
              <a:srgbClr val="ED8428"/>
            </a:solidFill>
            <a:prstDash val="solid"/>
            <a:tailEnd type="triangle"/>
          </a:ln>
        </p:spPr>
      </p:sp>
      <p:sp>
        <p:nvSpPr>
          <p:cNvPr id="15" name="Shape 13"/>
          <p:cNvSpPr/>
          <p:nvPr/>
        </p:nvSpPr>
        <p:spPr>
          <a:xfrm>
            <a:off x="2071116" y="5065776"/>
            <a:ext cx="8046720" cy="502920"/>
          </a:xfrm>
          <a:prstGeom prst="roundRect">
            <a:avLst>
              <a:gd name="adj" fmla="val 14545"/>
            </a:avLst>
          </a:prstGeom>
          <a:solidFill>
            <a:srgbClr val="161616"/>
          </a:solidFill>
          <a:ln w="19050">
            <a:solidFill>
              <a:srgbClr val="ED8428"/>
            </a:solidFill>
            <a:prstDash val="solid"/>
          </a:ln>
        </p:spPr>
      </p:sp>
      <p:sp>
        <p:nvSpPr>
          <p:cNvPr id="16" name="Text 14"/>
          <p:cNvSpPr/>
          <p:nvPr/>
        </p:nvSpPr>
        <p:spPr>
          <a:xfrm>
            <a:off x="2208276" y="5065776"/>
            <a:ext cx="777240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Course Recommendations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CONTENT-BASED RECOMMENDER — COURSE SIMILARITY WORKFLOW</a:t>
            </a:r>
            <a:endParaRPr lang="en-US" sz="2600" dirty="0"/>
          </a:p>
        </p:txBody>
      </p:sp>
      <p:sp>
        <p:nvSpPr>
          <p:cNvPr id="3" name="Shape 1"/>
          <p:cNvSpPr/>
          <p:nvPr/>
        </p:nvSpPr>
        <p:spPr>
          <a:xfrm>
            <a:off x="1339596" y="1682496"/>
            <a:ext cx="9509760" cy="566928"/>
          </a:xfrm>
          <a:prstGeom prst="roundRect">
            <a:avLst>
              <a:gd name="adj" fmla="val 12903"/>
            </a:avLst>
          </a:prstGeom>
          <a:solidFill>
            <a:srgbClr val="161616"/>
          </a:solidFill>
          <a:ln w="19050">
            <a:solidFill>
              <a:srgbClr val="ED8428"/>
            </a:solidFill>
            <a:prstDash val="solid"/>
          </a:ln>
        </p:spPr>
      </p:sp>
      <p:sp>
        <p:nvSpPr>
          <p:cNvPr id="4" name="Text 2"/>
          <p:cNvSpPr/>
          <p:nvPr/>
        </p:nvSpPr>
        <p:spPr>
          <a:xfrm>
            <a:off x="1476756" y="168249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1. Turn each course's text (title + description) into Bag-of-Words features</a:t>
            </a:r>
            <a:endParaRPr lang="en-US" sz="1250" dirty="0"/>
          </a:p>
        </p:txBody>
      </p:sp>
      <p:sp>
        <p:nvSpPr>
          <p:cNvPr id="5" name="Shape 3"/>
          <p:cNvSpPr/>
          <p:nvPr/>
        </p:nvSpPr>
        <p:spPr>
          <a:xfrm>
            <a:off x="6094476" y="2249424"/>
            <a:ext cx="0" cy="146304"/>
          </a:xfrm>
          <a:prstGeom prst="line">
            <a:avLst/>
          </a:prstGeom>
          <a:noFill/>
          <a:ln w="25400">
            <a:solidFill>
              <a:srgbClr val="ED8428"/>
            </a:solidFill>
            <a:prstDash val="solid"/>
            <a:tailEnd type="triangle"/>
          </a:ln>
        </p:spPr>
      </p:sp>
      <p:sp>
        <p:nvSpPr>
          <p:cNvPr id="6" name="Shape 4"/>
          <p:cNvSpPr/>
          <p:nvPr/>
        </p:nvSpPr>
        <p:spPr>
          <a:xfrm>
            <a:off x="1339596" y="2395728"/>
            <a:ext cx="9509760" cy="566928"/>
          </a:xfrm>
          <a:prstGeom prst="roundRect">
            <a:avLst>
              <a:gd name="adj" fmla="val 12903"/>
            </a:avLst>
          </a:prstGeom>
          <a:solidFill>
            <a:srgbClr val="161616"/>
          </a:solidFill>
          <a:ln w="19050">
            <a:solidFill>
              <a:srgbClr val="ED8428"/>
            </a:solidFill>
            <a:prstDash val="solid"/>
          </a:ln>
        </p:spPr>
      </p:sp>
      <p:sp>
        <p:nvSpPr>
          <p:cNvPr id="7" name="Text 5"/>
          <p:cNvSpPr/>
          <p:nvPr/>
        </p:nvSpPr>
        <p:spPr>
          <a:xfrm>
            <a:off x="1476756" y="2395728"/>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2. Compute a course-to-course similarity matrix from those features (0 = unrelated, 1 = identical)</a:t>
            </a:r>
            <a:endParaRPr lang="en-US" sz="1250" dirty="0"/>
          </a:p>
        </p:txBody>
      </p:sp>
      <p:sp>
        <p:nvSpPr>
          <p:cNvPr id="8" name="Shape 6"/>
          <p:cNvSpPr/>
          <p:nvPr/>
        </p:nvSpPr>
        <p:spPr>
          <a:xfrm>
            <a:off x="6094476" y="2962656"/>
            <a:ext cx="0" cy="146304"/>
          </a:xfrm>
          <a:prstGeom prst="line">
            <a:avLst/>
          </a:prstGeom>
          <a:noFill/>
          <a:ln w="25400">
            <a:solidFill>
              <a:srgbClr val="ED8428"/>
            </a:solidFill>
            <a:prstDash val="solid"/>
            <a:tailEnd type="triangle"/>
          </a:ln>
        </p:spPr>
      </p:sp>
      <p:sp>
        <p:nvSpPr>
          <p:cNvPr id="9" name="Shape 7"/>
          <p:cNvSpPr/>
          <p:nvPr/>
        </p:nvSpPr>
        <p:spPr>
          <a:xfrm>
            <a:off x="1339596" y="3108960"/>
            <a:ext cx="9509760" cy="566928"/>
          </a:xfrm>
          <a:prstGeom prst="roundRect">
            <a:avLst>
              <a:gd name="adj" fmla="val 12903"/>
            </a:avLst>
          </a:prstGeom>
          <a:solidFill>
            <a:srgbClr val="161616"/>
          </a:solidFill>
          <a:ln w="19050">
            <a:solidFill>
              <a:srgbClr val="ED8428"/>
            </a:solidFill>
            <a:prstDash val="solid"/>
          </a:ln>
        </p:spPr>
      </p:sp>
      <p:sp>
        <p:nvSpPr>
          <p:cNvPr id="10" name="Text 8"/>
          <p:cNvSpPr/>
          <p:nvPr/>
        </p:nvSpPr>
        <p:spPr>
          <a:xfrm>
            <a:off x="1476756" y="3108960"/>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3. For a test user, split their courses into enrolled vs. unseen</a:t>
            </a:r>
            <a:endParaRPr lang="en-US" sz="1250" dirty="0"/>
          </a:p>
        </p:txBody>
      </p:sp>
      <p:sp>
        <p:nvSpPr>
          <p:cNvPr id="11" name="Shape 9"/>
          <p:cNvSpPr/>
          <p:nvPr/>
        </p:nvSpPr>
        <p:spPr>
          <a:xfrm>
            <a:off x="6094476" y="3675888"/>
            <a:ext cx="0" cy="146304"/>
          </a:xfrm>
          <a:prstGeom prst="line">
            <a:avLst/>
          </a:prstGeom>
          <a:noFill/>
          <a:ln w="25400">
            <a:solidFill>
              <a:srgbClr val="ED8428"/>
            </a:solidFill>
            <a:prstDash val="solid"/>
            <a:tailEnd type="triangle"/>
          </a:ln>
        </p:spPr>
      </p:sp>
      <p:sp>
        <p:nvSpPr>
          <p:cNvPr id="12" name="Shape 10"/>
          <p:cNvSpPr/>
          <p:nvPr/>
        </p:nvSpPr>
        <p:spPr>
          <a:xfrm>
            <a:off x="1339596" y="3822192"/>
            <a:ext cx="9509760" cy="566928"/>
          </a:xfrm>
          <a:prstGeom prst="roundRect">
            <a:avLst>
              <a:gd name="adj" fmla="val 12903"/>
            </a:avLst>
          </a:prstGeom>
          <a:solidFill>
            <a:srgbClr val="161616"/>
          </a:solidFill>
          <a:ln w="19050">
            <a:solidFill>
              <a:srgbClr val="ED8428"/>
            </a:solidFill>
            <a:prstDash val="solid"/>
          </a:ln>
        </p:spPr>
      </p:sp>
      <p:sp>
        <p:nvSpPr>
          <p:cNvPr id="13" name="Text 11"/>
          <p:cNvSpPr/>
          <p:nvPr/>
        </p:nvSpPr>
        <p:spPr>
          <a:xfrm>
            <a:off x="1476756" y="3822192"/>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4. Compare every unseen course against each enrolled course using the similarity matrix</a:t>
            </a:r>
            <a:endParaRPr lang="en-US" sz="1250" dirty="0"/>
          </a:p>
        </p:txBody>
      </p:sp>
      <p:sp>
        <p:nvSpPr>
          <p:cNvPr id="14" name="Shape 12"/>
          <p:cNvSpPr/>
          <p:nvPr/>
        </p:nvSpPr>
        <p:spPr>
          <a:xfrm>
            <a:off x="6094476" y="4389120"/>
            <a:ext cx="0" cy="146304"/>
          </a:xfrm>
          <a:prstGeom prst="line">
            <a:avLst/>
          </a:prstGeom>
          <a:noFill/>
          <a:ln w="25400">
            <a:solidFill>
              <a:srgbClr val="ED8428"/>
            </a:solidFill>
            <a:prstDash val="solid"/>
            <a:tailEnd type="triangle"/>
          </a:ln>
        </p:spPr>
      </p:sp>
      <p:sp>
        <p:nvSpPr>
          <p:cNvPr id="15" name="Shape 13"/>
          <p:cNvSpPr/>
          <p:nvPr/>
        </p:nvSpPr>
        <p:spPr>
          <a:xfrm>
            <a:off x="1339596" y="4535424"/>
            <a:ext cx="9509760" cy="566928"/>
          </a:xfrm>
          <a:prstGeom prst="roundRect">
            <a:avLst>
              <a:gd name="adj" fmla="val 12903"/>
            </a:avLst>
          </a:prstGeom>
          <a:solidFill>
            <a:srgbClr val="161616"/>
          </a:solidFill>
          <a:ln w="19050">
            <a:solidFill>
              <a:srgbClr val="ED8428"/>
            </a:solidFill>
            <a:prstDash val="solid"/>
          </a:ln>
        </p:spPr>
      </p:sp>
      <p:sp>
        <p:nvSpPr>
          <p:cNvPr id="16" name="Text 14"/>
          <p:cNvSpPr/>
          <p:nvPr/>
        </p:nvSpPr>
        <p:spPr>
          <a:xfrm>
            <a:off x="1476756" y="4535424"/>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5. Keep unseen courses whose similarity score is above the threshold (0.4)</a:t>
            </a:r>
            <a:endParaRPr lang="en-US" sz="1250" dirty="0"/>
          </a:p>
        </p:txBody>
      </p:sp>
      <p:sp>
        <p:nvSpPr>
          <p:cNvPr id="17" name="Shape 15"/>
          <p:cNvSpPr/>
          <p:nvPr/>
        </p:nvSpPr>
        <p:spPr>
          <a:xfrm>
            <a:off x="6094476" y="5102352"/>
            <a:ext cx="0" cy="146304"/>
          </a:xfrm>
          <a:prstGeom prst="line">
            <a:avLst/>
          </a:prstGeom>
          <a:noFill/>
          <a:ln w="25400">
            <a:solidFill>
              <a:srgbClr val="ED8428"/>
            </a:solidFill>
            <a:prstDash val="solid"/>
            <a:tailEnd type="triangle"/>
          </a:ln>
        </p:spPr>
      </p:sp>
      <p:sp>
        <p:nvSpPr>
          <p:cNvPr id="18" name="Shape 16"/>
          <p:cNvSpPr/>
          <p:nvPr/>
        </p:nvSpPr>
        <p:spPr>
          <a:xfrm>
            <a:off x="1339596" y="5248656"/>
            <a:ext cx="9509760" cy="566928"/>
          </a:xfrm>
          <a:prstGeom prst="roundRect">
            <a:avLst>
              <a:gd name="adj" fmla="val 12903"/>
            </a:avLst>
          </a:prstGeom>
          <a:solidFill>
            <a:srgbClr val="161616"/>
          </a:solidFill>
          <a:ln w="19050">
            <a:solidFill>
              <a:srgbClr val="ED8428"/>
            </a:solidFill>
            <a:prstDash val="solid"/>
          </a:ln>
        </p:spPr>
      </p:sp>
      <p:sp>
        <p:nvSpPr>
          <p:cNvPr id="19" name="Text 17"/>
          <p:cNvSpPr/>
          <p:nvPr/>
        </p:nvSpPr>
        <p:spPr>
          <a:xfrm>
            <a:off x="1476756" y="524865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6. Sort the matches by similarity score and return them as recommendations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COURSE SIMILARITY-BASED RECOMMENDER — EVALUATION RESULTS</a:t>
            </a:r>
            <a:endParaRPr lang="en-US" sz="2600" dirty="0"/>
          </a:p>
        </p:txBody>
      </p:sp>
      <p:sp>
        <p:nvSpPr>
          <p:cNvPr id="3" name="Text 1"/>
          <p:cNvSpPr/>
          <p:nvPr/>
        </p:nvSpPr>
        <p:spPr>
          <a:xfrm>
            <a:off x="548640" y="1463040"/>
            <a:ext cx="5120640" cy="365760"/>
          </a:xfrm>
          <a:prstGeom prst="rect">
            <a:avLst/>
          </a:prstGeom>
          <a:noFill/>
          <a:ln/>
        </p:spPr>
        <p:txBody>
          <a:bodyPr wrap="square" lIns="0" tIns="0" rIns="0" bIns="0" rtlCol="0" anchor="ctr"/>
          <a:lstStyle/>
          <a:p>
            <a:pPr indent="0" marL="0">
              <a:buNone/>
            </a:pPr>
            <a:r>
              <a:rPr lang="en-US" sz="1400" b="1" dirty="0">
                <a:solidFill>
                  <a:srgbClr val="ED8428"/>
                </a:solidFill>
                <a:latin typeface="Arial" pitchFamily="34" charset="0"/>
                <a:ea typeface="Arial" pitchFamily="34" charset="-122"/>
                <a:cs typeface="Arial" pitchFamily="34" charset="-120"/>
              </a:rPr>
              <a:t>Average new courses recommended per user</a:t>
            </a:r>
            <a:endParaRPr lang="en-US" sz="1400" dirty="0"/>
          </a:p>
        </p:txBody>
      </p:sp>
      <p:sp>
        <p:nvSpPr>
          <p:cNvPr id="4" name="Text 2"/>
          <p:cNvSpPr/>
          <p:nvPr/>
        </p:nvSpPr>
        <p:spPr>
          <a:xfrm>
            <a:off x="548640" y="1828800"/>
            <a:ext cx="5120640" cy="100584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49.68</a:t>
            </a:r>
            <a:endParaRPr lang="en-US" sz="4600" dirty="0"/>
          </a:p>
        </p:txBody>
      </p:sp>
      <p:sp>
        <p:nvSpPr>
          <p:cNvPr id="5" name="Text 3"/>
          <p:cNvSpPr/>
          <p:nvPr/>
        </p:nvSpPr>
        <p:spPr>
          <a:xfrm>
            <a:off x="548640" y="2880360"/>
            <a:ext cx="5120640" cy="548640"/>
          </a:xfrm>
          <a:prstGeom prst="rect">
            <a:avLst/>
          </a:prstGeom>
          <a:noFill/>
          <a:ln/>
        </p:spPr>
        <p:txBody>
          <a:bodyPr wrap="square" lIns="0" tIns="0" rIns="0" bIns="0" rtlCol="0" anchor="ctr"/>
          <a:lstStyle/>
          <a:p>
            <a:pPr indent="0" marL="0">
              <a:buNone/>
            </a:pPr>
            <a:r>
              <a:rPr lang="en-US" sz="1150" i="1" dirty="0">
                <a:solidFill>
                  <a:srgbClr val="B3B3B3"/>
                </a:solidFill>
                <a:latin typeface="Arial" pitchFamily="34" charset="0"/>
                <a:ea typeface="Arial" pitchFamily="34" charset="-122"/>
                <a:cs typeface="Arial" pitchFamily="34" charset="-120"/>
              </a:rPr>
              <a:t>Computed across all test users, using a similarity threshold of 0.4</a:t>
            </a:r>
            <a:endParaRPr lang="en-US" sz="1150" dirty="0"/>
          </a:p>
        </p:txBody>
      </p:sp>
      <p:sp>
        <p:nvSpPr>
          <p:cNvPr id="6" name="Text 4"/>
          <p:cNvSpPr/>
          <p:nvPr/>
        </p:nvSpPr>
        <p:spPr>
          <a:xfrm>
            <a:off x="6309360" y="1463040"/>
            <a:ext cx="5303520" cy="365760"/>
          </a:xfrm>
          <a:prstGeom prst="rect">
            <a:avLst/>
          </a:prstGeom>
          <a:noFill/>
          <a:ln/>
        </p:spPr>
        <p:txBody>
          <a:bodyPr wrap="square" lIns="0" tIns="0" rIns="0" bIns="0" rtlCol="0" anchor="ctr"/>
          <a:lstStyle/>
          <a:p>
            <a:pPr indent="0" marL="0">
              <a:buNone/>
            </a:pPr>
            <a:r>
              <a:rPr lang="en-US" sz="1400" b="1" dirty="0">
                <a:solidFill>
                  <a:srgbClr val="ED8428"/>
                </a:solidFill>
                <a:latin typeface="Arial" pitchFamily="34" charset="0"/>
                <a:ea typeface="Arial" pitchFamily="34" charset="-122"/>
                <a:cs typeface="Arial" pitchFamily="34" charset="-120"/>
              </a:rPr>
              <a:t>Top-10 most frequently recommended courses</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309360" y="1874520"/>
          <a:ext cx="5303520" cy="4206240"/>
        </p:xfrm>
        <a:graphic>
          <a:graphicData uri="http://schemas.openxmlformats.org/drawingml/2006/table">
            <a:tbl>
              <a:tblPr/>
              <a:tblGrid>
                <a:gridCol w="3291840"/>
                <a:gridCol w="2011680"/>
              </a:tblGrid>
              <a:tr h="382385">
                <a:tc>
                  <a:txBody>
                    <a:bodyPr/>
                    <a:lstStyle/>
                    <a:p>
                      <a:pPr algn="l" indent="0" marL="0">
                        <a:buNone/>
                      </a:pPr>
                      <a:r>
                        <a:rPr lang="en-US" sz="1150" b="1" dirty="0">
                          <a:solidFill>
                            <a:srgbClr val="000000"/>
                          </a:solidFill>
                          <a:latin typeface="Arial" pitchFamily="34" charset="0"/>
                          <a:ea typeface="Arial" pitchFamily="34" charset="-122"/>
                          <a:cs typeface="Arial" pitchFamily="34" charset="-120"/>
                        </a:rPr>
                        <a:t>Course</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r" indent="0" marL="0">
                        <a:buNone/>
                      </a:pPr>
                      <a:r>
                        <a:rPr lang="en-US" sz="1150" b="1" dirty="0">
                          <a:solidFill>
                            <a:srgbClr val="000000"/>
                          </a:solidFill>
                          <a:latin typeface="Arial" pitchFamily="34" charset="0"/>
                          <a:ea typeface="Arial" pitchFamily="34" charset="-122"/>
                          <a:cs typeface="Arial" pitchFamily="34" charset="-120"/>
                        </a:rPr>
                        <a:t>Times recommended</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excourse32</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27,188</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excourse68</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26,358</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excourse67</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25,932</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excourse74</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25,639</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excourse23</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25,556</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excourse36</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25,556</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excourse38</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24,510</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excourse33</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24,339</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excourse04</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24,277</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82385">
                <a:tc>
                  <a:txBody>
                    <a:bodyPr/>
                    <a:lstStyle/>
                    <a:p>
                      <a:pPr algn="l" indent="0" marL="0">
                        <a:buNone/>
                      </a:pPr>
                      <a:r>
                        <a:rPr lang="en-US" sz="1150" dirty="0">
                          <a:solidFill>
                            <a:srgbClr val="FFFFFF"/>
                          </a:solidFill>
                          <a:latin typeface="Arial" pitchFamily="34" charset="0"/>
                          <a:ea typeface="Arial" pitchFamily="34" charset="-122"/>
                          <a:cs typeface="Arial" pitchFamily="34" charset="-120"/>
                        </a:rPr>
                        <a:t>DS0110EN</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150" dirty="0">
                          <a:solidFill>
                            <a:srgbClr val="FFFFFF"/>
                          </a:solidFill>
                          <a:latin typeface="Arial" pitchFamily="34" charset="0"/>
                          <a:ea typeface="Arial" pitchFamily="34" charset="-122"/>
                          <a:cs typeface="Arial" pitchFamily="34" charset="-120"/>
                        </a:rPr>
                        <a:t>23,909</a:t>
                      </a:r>
                      <a:endParaRPr lang="en-US" sz="11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COMPARATIVE INSIGHTS ACROSS CONTENT &amp; COLLABORATIVE FILTERING</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389120"/>
        </p:xfrm>
        <a:graphic>
          <a:graphicData uri="http://schemas.openxmlformats.org/drawingml/2006/table">
            <a:tbl>
              <a:tblPr/>
              <a:tblGrid>
                <a:gridCol w="5532120"/>
                <a:gridCol w="5532120"/>
              </a:tblGrid>
              <a:tr h="731520">
                <a:tc>
                  <a:txBody>
                    <a:bodyPr/>
                    <a:lstStyle/>
                    <a:p>
                      <a:pPr algn="l" indent="0" marL="0">
                        <a:buNone/>
                      </a:pPr>
                      <a:r>
                        <a:rPr lang="en-US" sz="1400" b="1" dirty="0">
                          <a:solidFill>
                            <a:srgbClr val="000000"/>
                          </a:solidFill>
                          <a:latin typeface="Arial" pitchFamily="34" charset="0"/>
                          <a:ea typeface="Arial" pitchFamily="34" charset="-122"/>
                          <a:cs typeface="Arial" pitchFamily="34" charset="-120"/>
                        </a:rPr>
                        <a:t>Content-Based Filtering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l" indent="0" marL="0">
                        <a:buNone/>
                      </a:pPr>
                      <a:r>
                        <a:rPr lang="en-US" sz="1400" b="1" dirty="0">
                          <a:solidFill>
                            <a:srgbClr val="000000"/>
                          </a:solidFill>
                          <a:latin typeface="Arial" pitchFamily="34" charset="0"/>
                          <a:ea typeface="Arial" pitchFamily="34" charset="-122"/>
                          <a:cs typeface="Arial" pitchFamily="34" charset="-120"/>
                        </a:rPr>
                        <a:t>Collaborative Filtering</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r>
              <a:tr h="731520">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Recommends courses based on course features.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Recommends courses based on user interactions and ratings.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731520">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Good when course information is available.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Good for personalized recommendations.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731520">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Uses course similarity.</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Uses similarities between users and their preferences.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731520">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Can recommend newly added courses.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Needs historical user interaction data.</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731520">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Does not depend on other users' ratings.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l" indent="0" marL="0">
                        <a:buNone/>
                      </a:pPr>
                      <a:r>
                        <a:rPr lang="en-US" sz="1400" dirty="0">
                          <a:solidFill>
                            <a:srgbClr val="FFFFFF"/>
                          </a:solidFill>
                          <a:latin typeface="Arial" pitchFamily="34" charset="0"/>
                          <a:ea typeface="Arial" pitchFamily="34" charset="-122"/>
                          <a:cs typeface="Arial" pitchFamily="34" charset="-120"/>
                        </a:rPr>
                        <a:t>Learns from patterns in user behavior.</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CLUSTERING-BASED RECOMMENDER — WORKFLOW</a:t>
            </a:r>
            <a:endParaRPr lang="en-US" sz="2600" dirty="0"/>
          </a:p>
        </p:txBody>
      </p:sp>
      <p:sp>
        <p:nvSpPr>
          <p:cNvPr id="3" name="Shape 1"/>
          <p:cNvSpPr/>
          <p:nvPr/>
        </p:nvSpPr>
        <p:spPr>
          <a:xfrm>
            <a:off x="1339596" y="1682496"/>
            <a:ext cx="9509760" cy="566928"/>
          </a:xfrm>
          <a:prstGeom prst="roundRect">
            <a:avLst>
              <a:gd name="adj" fmla="val 12903"/>
            </a:avLst>
          </a:prstGeom>
          <a:solidFill>
            <a:srgbClr val="161616"/>
          </a:solidFill>
          <a:ln w="19050">
            <a:solidFill>
              <a:srgbClr val="ED8428"/>
            </a:solidFill>
            <a:prstDash val="solid"/>
          </a:ln>
        </p:spPr>
      </p:sp>
      <p:sp>
        <p:nvSpPr>
          <p:cNvPr id="4" name="Text 2"/>
          <p:cNvSpPr/>
          <p:nvPr/>
        </p:nvSpPr>
        <p:spPr>
          <a:xfrm>
            <a:off x="1476756" y="168249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1. Start with user profile vectors (33,901 users × 14 course-genre features)</a:t>
            </a:r>
            <a:endParaRPr lang="en-US" sz="1250" dirty="0"/>
          </a:p>
        </p:txBody>
      </p:sp>
      <p:sp>
        <p:nvSpPr>
          <p:cNvPr id="5" name="Shape 3"/>
          <p:cNvSpPr/>
          <p:nvPr/>
        </p:nvSpPr>
        <p:spPr>
          <a:xfrm>
            <a:off x="6094476" y="2249424"/>
            <a:ext cx="0" cy="146304"/>
          </a:xfrm>
          <a:prstGeom prst="line">
            <a:avLst/>
          </a:prstGeom>
          <a:noFill/>
          <a:ln w="25400">
            <a:solidFill>
              <a:srgbClr val="ED8428"/>
            </a:solidFill>
            <a:prstDash val="solid"/>
            <a:tailEnd type="triangle"/>
          </a:ln>
        </p:spPr>
      </p:sp>
      <p:sp>
        <p:nvSpPr>
          <p:cNvPr id="6" name="Shape 4"/>
          <p:cNvSpPr/>
          <p:nvPr/>
        </p:nvSpPr>
        <p:spPr>
          <a:xfrm>
            <a:off x="1339596" y="2395728"/>
            <a:ext cx="9509760" cy="566928"/>
          </a:xfrm>
          <a:prstGeom prst="roundRect">
            <a:avLst>
              <a:gd name="adj" fmla="val 12903"/>
            </a:avLst>
          </a:prstGeom>
          <a:solidFill>
            <a:srgbClr val="161616"/>
          </a:solidFill>
          <a:ln w="19050">
            <a:solidFill>
              <a:srgbClr val="ED8428"/>
            </a:solidFill>
            <a:prstDash val="solid"/>
          </a:ln>
        </p:spPr>
      </p:sp>
      <p:sp>
        <p:nvSpPr>
          <p:cNvPr id="7" name="Text 5"/>
          <p:cNvSpPr/>
          <p:nvPr/>
        </p:nvSpPr>
        <p:spPr>
          <a:xfrm>
            <a:off x="1476756" y="2395728"/>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2. Normalize features with StandardScaler (mean 0, std 1)</a:t>
            </a:r>
            <a:endParaRPr lang="en-US" sz="1250" dirty="0"/>
          </a:p>
        </p:txBody>
      </p:sp>
      <p:sp>
        <p:nvSpPr>
          <p:cNvPr id="8" name="Shape 6"/>
          <p:cNvSpPr/>
          <p:nvPr/>
        </p:nvSpPr>
        <p:spPr>
          <a:xfrm>
            <a:off x="6094476" y="2962656"/>
            <a:ext cx="0" cy="146304"/>
          </a:xfrm>
          <a:prstGeom prst="line">
            <a:avLst/>
          </a:prstGeom>
          <a:noFill/>
          <a:ln w="25400">
            <a:solidFill>
              <a:srgbClr val="ED8428"/>
            </a:solidFill>
            <a:prstDash val="solid"/>
            <a:tailEnd type="triangle"/>
          </a:ln>
        </p:spPr>
      </p:sp>
      <p:sp>
        <p:nvSpPr>
          <p:cNvPr id="9" name="Shape 7"/>
          <p:cNvSpPr/>
          <p:nvPr/>
        </p:nvSpPr>
        <p:spPr>
          <a:xfrm>
            <a:off x="1339596" y="3108960"/>
            <a:ext cx="9509760" cy="566928"/>
          </a:xfrm>
          <a:prstGeom prst="roundRect">
            <a:avLst>
              <a:gd name="adj" fmla="val 12903"/>
            </a:avLst>
          </a:prstGeom>
          <a:solidFill>
            <a:srgbClr val="161616"/>
          </a:solidFill>
          <a:ln w="19050">
            <a:solidFill>
              <a:srgbClr val="ED8428"/>
            </a:solidFill>
            <a:prstDash val="solid"/>
          </a:ln>
        </p:spPr>
      </p:sp>
      <p:sp>
        <p:nvSpPr>
          <p:cNvPr id="10" name="Text 8"/>
          <p:cNvSpPr/>
          <p:nvPr/>
        </p:nvSpPr>
        <p:spPr>
          <a:xfrm>
            <a:off x="1476756" y="3108960"/>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3. Reduce dimensions with PCA — 5 components capture ~90% of the variance</a:t>
            </a:r>
            <a:endParaRPr lang="en-US" sz="1250" dirty="0"/>
          </a:p>
        </p:txBody>
      </p:sp>
      <p:sp>
        <p:nvSpPr>
          <p:cNvPr id="11" name="Shape 9"/>
          <p:cNvSpPr/>
          <p:nvPr/>
        </p:nvSpPr>
        <p:spPr>
          <a:xfrm>
            <a:off x="6094476" y="3675888"/>
            <a:ext cx="0" cy="146304"/>
          </a:xfrm>
          <a:prstGeom prst="line">
            <a:avLst/>
          </a:prstGeom>
          <a:noFill/>
          <a:ln w="25400">
            <a:solidFill>
              <a:srgbClr val="ED8428"/>
            </a:solidFill>
            <a:prstDash val="solid"/>
            <a:tailEnd type="triangle"/>
          </a:ln>
        </p:spPr>
      </p:sp>
      <p:sp>
        <p:nvSpPr>
          <p:cNvPr id="12" name="Shape 10"/>
          <p:cNvSpPr/>
          <p:nvPr/>
        </p:nvSpPr>
        <p:spPr>
          <a:xfrm>
            <a:off x="1339596" y="3822192"/>
            <a:ext cx="9509760" cy="566928"/>
          </a:xfrm>
          <a:prstGeom prst="roundRect">
            <a:avLst>
              <a:gd name="adj" fmla="val 12903"/>
            </a:avLst>
          </a:prstGeom>
          <a:solidFill>
            <a:srgbClr val="161616"/>
          </a:solidFill>
          <a:ln w="19050">
            <a:solidFill>
              <a:srgbClr val="ED8428"/>
            </a:solidFill>
            <a:prstDash val="solid"/>
          </a:ln>
        </p:spPr>
      </p:sp>
      <p:sp>
        <p:nvSpPr>
          <p:cNvPr id="13" name="Text 11"/>
          <p:cNvSpPr/>
          <p:nvPr/>
        </p:nvSpPr>
        <p:spPr>
          <a:xfrm>
            <a:off x="1476756" y="3822192"/>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4. Find the optimal number of clusters with the elbow method → k = 6</a:t>
            </a:r>
            <a:endParaRPr lang="en-US" sz="1250" dirty="0"/>
          </a:p>
        </p:txBody>
      </p:sp>
      <p:sp>
        <p:nvSpPr>
          <p:cNvPr id="14" name="Shape 12"/>
          <p:cNvSpPr/>
          <p:nvPr/>
        </p:nvSpPr>
        <p:spPr>
          <a:xfrm>
            <a:off x="6094476" y="4389120"/>
            <a:ext cx="0" cy="146304"/>
          </a:xfrm>
          <a:prstGeom prst="line">
            <a:avLst/>
          </a:prstGeom>
          <a:noFill/>
          <a:ln w="25400">
            <a:solidFill>
              <a:srgbClr val="ED8428"/>
            </a:solidFill>
            <a:prstDash val="solid"/>
            <a:tailEnd type="triangle"/>
          </a:ln>
        </p:spPr>
      </p:sp>
      <p:sp>
        <p:nvSpPr>
          <p:cNvPr id="15" name="Shape 13"/>
          <p:cNvSpPr/>
          <p:nvPr/>
        </p:nvSpPr>
        <p:spPr>
          <a:xfrm>
            <a:off x="1339596" y="4535424"/>
            <a:ext cx="9509760" cy="566928"/>
          </a:xfrm>
          <a:prstGeom prst="roundRect">
            <a:avLst>
              <a:gd name="adj" fmla="val 12903"/>
            </a:avLst>
          </a:prstGeom>
          <a:solidFill>
            <a:srgbClr val="161616"/>
          </a:solidFill>
          <a:ln w="19050">
            <a:solidFill>
              <a:srgbClr val="ED8428"/>
            </a:solidFill>
            <a:prstDash val="solid"/>
          </a:ln>
        </p:spPr>
      </p:sp>
      <p:sp>
        <p:nvSpPr>
          <p:cNvPr id="16" name="Text 14"/>
          <p:cNvSpPr/>
          <p:nvPr/>
        </p:nvSpPr>
        <p:spPr>
          <a:xfrm>
            <a:off x="1476756" y="4535424"/>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5. Fit KMeans(k=6) and assign every user a cluster label</a:t>
            </a:r>
            <a:endParaRPr lang="en-US" sz="1250" dirty="0"/>
          </a:p>
        </p:txBody>
      </p:sp>
      <p:sp>
        <p:nvSpPr>
          <p:cNvPr id="17" name="Shape 15"/>
          <p:cNvSpPr/>
          <p:nvPr/>
        </p:nvSpPr>
        <p:spPr>
          <a:xfrm>
            <a:off x="6094476" y="5102352"/>
            <a:ext cx="0" cy="146304"/>
          </a:xfrm>
          <a:prstGeom prst="line">
            <a:avLst/>
          </a:prstGeom>
          <a:noFill/>
          <a:ln w="25400">
            <a:solidFill>
              <a:srgbClr val="ED8428"/>
            </a:solidFill>
            <a:prstDash val="solid"/>
            <a:tailEnd type="triangle"/>
          </a:ln>
        </p:spPr>
      </p:sp>
      <p:sp>
        <p:nvSpPr>
          <p:cNvPr id="18" name="Shape 16"/>
          <p:cNvSpPr/>
          <p:nvPr/>
        </p:nvSpPr>
        <p:spPr>
          <a:xfrm>
            <a:off x="1339596" y="5248656"/>
            <a:ext cx="9509760" cy="566928"/>
          </a:xfrm>
          <a:prstGeom prst="roundRect">
            <a:avLst>
              <a:gd name="adj" fmla="val 12903"/>
            </a:avLst>
          </a:prstGeom>
          <a:solidFill>
            <a:srgbClr val="161616"/>
          </a:solidFill>
          <a:ln w="19050">
            <a:solidFill>
              <a:srgbClr val="ED8428"/>
            </a:solidFill>
            <a:prstDash val="solid"/>
          </a:ln>
        </p:spPr>
      </p:sp>
      <p:sp>
        <p:nvSpPr>
          <p:cNvPr id="19" name="Text 17"/>
          <p:cNvSpPr/>
          <p:nvPr/>
        </p:nvSpPr>
        <p:spPr>
          <a:xfrm>
            <a:off x="1476756" y="524865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6. For a test user: match to a cluster, then recommend that cluster's popular unseen courses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CLUSTERING-BASED RECOMMENDER — EVALUATION RESULTS</a:t>
            </a:r>
            <a:endParaRPr lang="en-US" sz="2600" dirty="0"/>
          </a:p>
        </p:txBody>
      </p:sp>
      <p:pic>
        <p:nvPicPr>
          <p:cNvPr id="3" name="Image 0" descr="/home/claude/assets/elbow_plot.png">    </p:cNvPr>
          <p:cNvPicPr>
            <a:picLocks noChangeAspect="1"/>
          </p:cNvPicPr>
          <p:nvPr/>
        </p:nvPicPr>
        <p:blipFill>
          <a:blip r:embed="rId1"/>
          <a:stretch>
            <a:fillRect/>
          </a:stretch>
        </p:blipFill>
        <p:spPr>
          <a:xfrm>
            <a:off x="548640" y="1463040"/>
            <a:ext cx="5943600" cy="3895344"/>
          </a:xfrm>
          <a:prstGeom prst="rect">
            <a:avLst/>
          </a:prstGeom>
        </p:spPr>
      </p:pic>
      <p:sp>
        <p:nvSpPr>
          <p:cNvPr id="4" name="Text 1"/>
          <p:cNvSpPr/>
          <p:nvPr/>
        </p:nvSpPr>
        <p:spPr>
          <a:xfrm>
            <a:off x="548640" y="5440680"/>
            <a:ext cx="5943600" cy="365760"/>
          </a:xfrm>
          <a:prstGeom prst="rect">
            <a:avLst/>
          </a:prstGeom>
          <a:noFill/>
          <a:ln/>
        </p:spPr>
        <p:txBody>
          <a:bodyPr wrap="square" lIns="0" tIns="0" rIns="0" bIns="0" rtlCol="0" anchor="ctr"/>
          <a:lstStyle/>
          <a:p>
            <a:pPr indent="0" marL="0">
              <a:buNone/>
            </a:pPr>
            <a:r>
              <a:rPr lang="en-US" sz="1100" i="1" dirty="0">
                <a:solidFill>
                  <a:srgbClr val="B3B3B3"/>
                </a:solidFill>
                <a:latin typeface="Arial" pitchFamily="34" charset="0"/>
                <a:ea typeface="Arial" pitchFamily="34" charset="-122"/>
                <a:cs typeface="Arial" pitchFamily="34" charset="-120"/>
              </a:rPr>
              <a:t>Elbow method used to pick the number of clusters (k)</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0" y="1463040"/>
          <a:ext cx="4754880" cy="2194560"/>
        </p:xfrm>
        <a:graphic>
          <a:graphicData uri="http://schemas.openxmlformats.org/drawingml/2006/table">
            <a:tbl>
              <a:tblPr/>
              <a:tblGrid>
                <a:gridCol w="2743200"/>
                <a:gridCol w="2011680"/>
              </a:tblGrid>
              <a:tr h="365760">
                <a:tc>
                  <a:txBody>
                    <a:bodyPr/>
                    <a:lstStyle/>
                    <a:p>
                      <a:pPr algn="l" indent="0" marL="0">
                        <a:buNone/>
                      </a:pPr>
                      <a:r>
                        <a:rPr lang="en-US" sz="1250" b="1" dirty="0">
                          <a:solidFill>
                            <a:srgbClr val="000000"/>
                          </a:solidFill>
                          <a:latin typeface="Arial" pitchFamily="34" charset="0"/>
                          <a:ea typeface="Arial" pitchFamily="34" charset="-122"/>
                          <a:cs typeface="Arial" pitchFamily="34" charset="-120"/>
                        </a:rPr>
                        <a:t>PCA components</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c>
                  <a:txBody>
                    <a:bodyPr/>
                    <a:lstStyle/>
                    <a:p>
                      <a:pPr algn="r" indent="0" marL="0">
                        <a:buNone/>
                      </a:pPr>
                      <a:r>
                        <a:rPr lang="en-US" sz="1250" b="1" dirty="0">
                          <a:solidFill>
                            <a:srgbClr val="000000"/>
                          </a:solidFill>
                          <a:latin typeface="Arial" pitchFamily="34" charset="0"/>
                          <a:ea typeface="Arial" pitchFamily="34" charset="-122"/>
                          <a:cs typeface="Arial" pitchFamily="34" charset="-120"/>
                        </a:rPr>
                        <a:t>Explained variance</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8428"/>
                    </a:solidFill>
                  </a:tcPr>
                </a:tc>
              </a:tr>
              <a:tr h="365760">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1</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250" dirty="0">
                          <a:solidFill>
                            <a:srgbClr val="FFFFFF"/>
                          </a:solidFill>
                          <a:latin typeface="Arial" pitchFamily="34" charset="0"/>
                          <a:ea typeface="Arial" pitchFamily="34" charset="-122"/>
                          <a:cs typeface="Arial" pitchFamily="34" charset="-120"/>
                        </a:rPr>
                        <a:t>52.1%</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65760">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250" dirty="0">
                          <a:solidFill>
                            <a:srgbClr val="FFFFFF"/>
                          </a:solidFill>
                          <a:latin typeface="Arial" pitchFamily="34" charset="0"/>
                          <a:ea typeface="Arial" pitchFamily="34" charset="-122"/>
                          <a:cs typeface="Arial" pitchFamily="34" charset="-120"/>
                        </a:rPr>
                        <a:t>70.4%</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65760">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3</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250" dirty="0">
                          <a:solidFill>
                            <a:srgbClr val="FFFFFF"/>
                          </a:solidFill>
                          <a:latin typeface="Arial" pitchFamily="34" charset="0"/>
                          <a:ea typeface="Arial" pitchFamily="34" charset="-122"/>
                          <a:cs typeface="Arial" pitchFamily="34" charset="-120"/>
                        </a:rPr>
                        <a:t>81.7%</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r h="365760">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algn="r" indent="0" marL="0">
                        <a:buNone/>
                      </a:pPr>
                      <a:r>
                        <a:rPr lang="en-US" sz="1250" dirty="0">
                          <a:solidFill>
                            <a:srgbClr val="FFFFFF"/>
                          </a:solidFill>
                          <a:latin typeface="Arial" pitchFamily="34" charset="0"/>
                          <a:ea typeface="Arial" pitchFamily="34" charset="-122"/>
                          <a:cs typeface="Arial" pitchFamily="34" charset="-120"/>
                        </a:rPr>
                        <a:t>86.4%</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1E1E"/>
                    </a:solidFill>
                  </a:tcPr>
                </a:tc>
              </a:tr>
              <a:tr h="365760">
                <a:tc>
                  <a:txBody>
                    <a:bodyPr/>
                    <a:lstStyle/>
                    <a:p>
                      <a:pPr algn="l" indent="0" marL="0">
                        <a:buNone/>
                      </a:pPr>
                      <a:r>
                        <a:rPr lang="en-US" sz="1250" b="1" dirty="0">
                          <a:solidFill>
                            <a:srgbClr val="ED8428"/>
                          </a:solidFill>
                          <a:latin typeface="Arial" pitchFamily="34" charset="0"/>
                          <a:ea typeface="Arial" pitchFamily="34" charset="-122"/>
                          <a:cs typeface="Arial" pitchFamily="34" charset="-120"/>
                        </a:rPr>
                        <a:t>5 (chosen)</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c>
                  <a:txBody>
                    <a:bodyPr/>
                    <a:lstStyle/>
                    <a:p>
                      <a:pPr algn="r" indent="0" marL="0">
                        <a:buNone/>
                      </a:pPr>
                      <a:r>
                        <a:rPr lang="en-US" sz="1250" b="1" dirty="0">
                          <a:solidFill>
                            <a:srgbClr val="ED8428"/>
                          </a:solidFill>
                          <a:latin typeface="Arial" pitchFamily="34" charset="0"/>
                          <a:ea typeface="Arial" pitchFamily="34" charset="-122"/>
                          <a:cs typeface="Arial" pitchFamily="34" charset="-120"/>
                        </a:rPr>
                        <a:t>90.1%</a:t>
                      </a:r>
                      <a:endParaRPr lang="en-US" sz="125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41414"/>
                    </a:solidFill>
                  </a:tcPr>
                </a:tc>
              </a:tr>
            </a:tbl>
          </a:graphicData>
        </a:graphic>
      </p:graphicFrame>
      <p:sp>
        <p:nvSpPr>
          <p:cNvPr id="6" name="Text 2"/>
          <p:cNvSpPr/>
          <p:nvPr/>
        </p:nvSpPr>
        <p:spPr>
          <a:xfrm>
            <a:off x="6858000" y="3931920"/>
            <a:ext cx="4754880" cy="1920240"/>
          </a:xfrm>
          <a:prstGeom prst="rect">
            <a:avLst/>
          </a:prstGeom>
          <a:noFill/>
          <a:ln/>
        </p:spPr>
        <p:txBody>
          <a:bodyPr wrap="square" lIns="0" tIns="0" rIns="0" bIns="0" rtlCol="0" anchor="t"/>
          <a:lstStyle/>
          <a:p>
            <a:pPr indent="0" marL="0">
              <a:lnSpc>
                <a:spcPct val="125000"/>
              </a:lnSpc>
              <a:spcAft>
                <a:spcPts val="600"/>
              </a:spcAft>
              <a:buNone/>
            </a:pPr>
            <a:r>
              <a:rPr lang="en-US" sz="1250" b="1" dirty="0">
                <a:solidFill>
                  <a:srgbClr val="ED8428"/>
                </a:solidFill>
                <a:latin typeface="Arial" pitchFamily="34" charset="0"/>
                <a:ea typeface="Arial" pitchFamily="34" charset="-122"/>
                <a:cs typeface="Arial" pitchFamily="34" charset="-120"/>
              </a:rPr>
              <a:t>Final result</a:t>
            </a:r>
            <a:endParaRPr lang="en-US" sz="1250" dirty="0"/>
          </a:p>
          <a:p>
            <a:pPr indent="0" marL="0">
              <a:lnSpc>
                <a:spcPct val="125000"/>
              </a:lnSpc>
              <a:buNone/>
            </a:pPr>
            <a:r>
              <a:rPr lang="en-US" sz="1250" dirty="0">
                <a:solidFill>
                  <a:srgbClr val="FFFFFF"/>
                </a:solidFill>
                <a:latin typeface="Arial" pitchFamily="34" charset="0"/>
                <a:ea typeface="Arial" pitchFamily="34" charset="-122"/>
                <a:cs typeface="Arial" pitchFamily="34" charset="-120"/>
              </a:rPr>
              <a:t>33,901 users were grouped into 6 clusters (k = 6), using the top 5 PCA components that preserve ~90% of the original variance in user learning-interest profiles.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KNN COLLABORATIVE FILTERING — WORKFLOW</a:t>
            </a:r>
            <a:endParaRPr lang="en-US" sz="2600" dirty="0"/>
          </a:p>
        </p:txBody>
      </p:sp>
      <p:sp>
        <p:nvSpPr>
          <p:cNvPr id="3" name="Shape 1"/>
          <p:cNvSpPr/>
          <p:nvPr/>
        </p:nvSpPr>
        <p:spPr>
          <a:xfrm>
            <a:off x="1339596" y="1682496"/>
            <a:ext cx="9509760" cy="566928"/>
          </a:xfrm>
          <a:prstGeom prst="roundRect">
            <a:avLst>
              <a:gd name="adj" fmla="val 12903"/>
            </a:avLst>
          </a:prstGeom>
          <a:solidFill>
            <a:srgbClr val="161616"/>
          </a:solidFill>
          <a:ln w="19050">
            <a:solidFill>
              <a:srgbClr val="ED8428"/>
            </a:solidFill>
            <a:prstDash val="solid"/>
          </a:ln>
        </p:spPr>
      </p:sp>
      <p:sp>
        <p:nvSpPr>
          <p:cNvPr id="4" name="Text 2"/>
          <p:cNvSpPr/>
          <p:nvPr/>
        </p:nvSpPr>
        <p:spPr>
          <a:xfrm>
            <a:off x="1476756" y="168249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1. Build the user-item rating matrix from all course enrollments</a:t>
            </a:r>
            <a:endParaRPr lang="en-US" sz="1250" dirty="0"/>
          </a:p>
        </p:txBody>
      </p:sp>
      <p:sp>
        <p:nvSpPr>
          <p:cNvPr id="5" name="Shape 3"/>
          <p:cNvSpPr/>
          <p:nvPr/>
        </p:nvSpPr>
        <p:spPr>
          <a:xfrm>
            <a:off x="6094476" y="2249424"/>
            <a:ext cx="0" cy="146304"/>
          </a:xfrm>
          <a:prstGeom prst="line">
            <a:avLst/>
          </a:prstGeom>
          <a:noFill/>
          <a:ln w="25400">
            <a:solidFill>
              <a:srgbClr val="ED8428"/>
            </a:solidFill>
            <a:prstDash val="solid"/>
            <a:tailEnd type="triangle"/>
          </a:ln>
        </p:spPr>
      </p:sp>
      <p:sp>
        <p:nvSpPr>
          <p:cNvPr id="6" name="Shape 4"/>
          <p:cNvSpPr/>
          <p:nvPr/>
        </p:nvSpPr>
        <p:spPr>
          <a:xfrm>
            <a:off x="1339596" y="2395728"/>
            <a:ext cx="9509760" cy="566928"/>
          </a:xfrm>
          <a:prstGeom prst="roundRect">
            <a:avLst>
              <a:gd name="adj" fmla="val 12903"/>
            </a:avLst>
          </a:prstGeom>
          <a:solidFill>
            <a:srgbClr val="161616"/>
          </a:solidFill>
          <a:ln w="19050">
            <a:solidFill>
              <a:srgbClr val="ED8428"/>
            </a:solidFill>
            <a:prstDash val="solid"/>
          </a:ln>
        </p:spPr>
      </p:sp>
      <p:sp>
        <p:nvSpPr>
          <p:cNvPr id="7" name="Text 5"/>
          <p:cNvSpPr/>
          <p:nvPr/>
        </p:nvSpPr>
        <p:spPr>
          <a:xfrm>
            <a:off x="1476756" y="2395728"/>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2. Split ratings into a train set and a test set</a:t>
            </a:r>
            <a:endParaRPr lang="en-US" sz="1250" dirty="0"/>
          </a:p>
        </p:txBody>
      </p:sp>
      <p:sp>
        <p:nvSpPr>
          <p:cNvPr id="8" name="Shape 6"/>
          <p:cNvSpPr/>
          <p:nvPr/>
        </p:nvSpPr>
        <p:spPr>
          <a:xfrm>
            <a:off x="6094476" y="2962656"/>
            <a:ext cx="0" cy="146304"/>
          </a:xfrm>
          <a:prstGeom prst="line">
            <a:avLst/>
          </a:prstGeom>
          <a:noFill/>
          <a:ln w="25400">
            <a:solidFill>
              <a:srgbClr val="ED8428"/>
            </a:solidFill>
            <a:prstDash val="solid"/>
            <a:tailEnd type="triangle"/>
          </a:ln>
        </p:spPr>
      </p:sp>
      <p:sp>
        <p:nvSpPr>
          <p:cNvPr id="9" name="Shape 7"/>
          <p:cNvSpPr/>
          <p:nvPr/>
        </p:nvSpPr>
        <p:spPr>
          <a:xfrm>
            <a:off x="1339596" y="3108960"/>
            <a:ext cx="9509760" cy="566928"/>
          </a:xfrm>
          <a:prstGeom prst="roundRect">
            <a:avLst>
              <a:gd name="adj" fmla="val 12903"/>
            </a:avLst>
          </a:prstGeom>
          <a:solidFill>
            <a:srgbClr val="161616"/>
          </a:solidFill>
          <a:ln w="19050">
            <a:solidFill>
              <a:srgbClr val="ED8428"/>
            </a:solidFill>
            <a:prstDash val="solid"/>
          </a:ln>
        </p:spPr>
      </p:sp>
      <p:sp>
        <p:nvSpPr>
          <p:cNvPr id="10" name="Text 8"/>
          <p:cNvSpPr/>
          <p:nvPr/>
        </p:nvSpPr>
        <p:spPr>
          <a:xfrm>
            <a:off x="1476756" y="3108960"/>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3. Fit KNNBasic() on the train set to find each user's nearest neighbors</a:t>
            </a:r>
            <a:endParaRPr lang="en-US" sz="1250" dirty="0"/>
          </a:p>
        </p:txBody>
      </p:sp>
      <p:sp>
        <p:nvSpPr>
          <p:cNvPr id="11" name="Shape 9"/>
          <p:cNvSpPr/>
          <p:nvPr/>
        </p:nvSpPr>
        <p:spPr>
          <a:xfrm>
            <a:off x="6094476" y="3675888"/>
            <a:ext cx="0" cy="146304"/>
          </a:xfrm>
          <a:prstGeom prst="line">
            <a:avLst/>
          </a:prstGeom>
          <a:noFill/>
          <a:ln w="25400">
            <a:solidFill>
              <a:srgbClr val="ED8428"/>
            </a:solidFill>
            <a:prstDash val="solid"/>
            <a:tailEnd type="triangle"/>
          </a:ln>
        </p:spPr>
      </p:sp>
      <p:sp>
        <p:nvSpPr>
          <p:cNvPr id="12" name="Shape 10"/>
          <p:cNvSpPr/>
          <p:nvPr/>
        </p:nvSpPr>
        <p:spPr>
          <a:xfrm>
            <a:off x="1339596" y="3822192"/>
            <a:ext cx="9509760" cy="566928"/>
          </a:xfrm>
          <a:prstGeom prst="roundRect">
            <a:avLst>
              <a:gd name="adj" fmla="val 12903"/>
            </a:avLst>
          </a:prstGeom>
          <a:solidFill>
            <a:srgbClr val="161616"/>
          </a:solidFill>
          <a:ln w="19050">
            <a:solidFill>
              <a:srgbClr val="ED8428"/>
            </a:solidFill>
            <a:prstDash val="solid"/>
          </a:ln>
        </p:spPr>
      </p:sp>
      <p:sp>
        <p:nvSpPr>
          <p:cNvPr id="13" name="Text 11"/>
          <p:cNvSpPr/>
          <p:nvPr/>
        </p:nvSpPr>
        <p:spPr>
          <a:xfrm>
            <a:off x="1476756" y="3822192"/>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4. For a target user-course pair, find the k most similar neighbors who rated that course</a:t>
            </a:r>
            <a:endParaRPr lang="en-US" sz="1250" dirty="0"/>
          </a:p>
        </p:txBody>
      </p:sp>
      <p:sp>
        <p:nvSpPr>
          <p:cNvPr id="14" name="Shape 12"/>
          <p:cNvSpPr/>
          <p:nvPr/>
        </p:nvSpPr>
        <p:spPr>
          <a:xfrm>
            <a:off x="6094476" y="4389120"/>
            <a:ext cx="0" cy="146304"/>
          </a:xfrm>
          <a:prstGeom prst="line">
            <a:avLst/>
          </a:prstGeom>
          <a:noFill/>
          <a:ln w="25400">
            <a:solidFill>
              <a:srgbClr val="ED8428"/>
            </a:solidFill>
            <a:prstDash val="solid"/>
            <a:tailEnd type="triangle"/>
          </a:ln>
        </p:spPr>
      </p:sp>
      <p:sp>
        <p:nvSpPr>
          <p:cNvPr id="15" name="Shape 13"/>
          <p:cNvSpPr/>
          <p:nvPr/>
        </p:nvSpPr>
        <p:spPr>
          <a:xfrm>
            <a:off x="1339596" y="4535424"/>
            <a:ext cx="9509760" cy="566928"/>
          </a:xfrm>
          <a:prstGeom prst="roundRect">
            <a:avLst>
              <a:gd name="adj" fmla="val 12903"/>
            </a:avLst>
          </a:prstGeom>
          <a:solidFill>
            <a:srgbClr val="161616"/>
          </a:solidFill>
          <a:ln w="19050">
            <a:solidFill>
              <a:srgbClr val="ED8428"/>
            </a:solidFill>
            <a:prstDash val="solid"/>
          </a:ln>
        </p:spPr>
      </p:sp>
      <p:sp>
        <p:nvSpPr>
          <p:cNvPr id="16" name="Text 14"/>
          <p:cNvSpPr/>
          <p:nvPr/>
        </p:nvSpPr>
        <p:spPr>
          <a:xfrm>
            <a:off x="1476756" y="4535424"/>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5. Predicted rating = similarity-weighted average of those neighbors' ratings</a:t>
            </a:r>
            <a:endParaRPr lang="en-US" sz="1250" dirty="0"/>
          </a:p>
        </p:txBody>
      </p:sp>
      <p:sp>
        <p:nvSpPr>
          <p:cNvPr id="17" name="Shape 15"/>
          <p:cNvSpPr/>
          <p:nvPr/>
        </p:nvSpPr>
        <p:spPr>
          <a:xfrm>
            <a:off x="6094476" y="5102352"/>
            <a:ext cx="0" cy="146304"/>
          </a:xfrm>
          <a:prstGeom prst="line">
            <a:avLst/>
          </a:prstGeom>
          <a:noFill/>
          <a:ln w="25400">
            <a:solidFill>
              <a:srgbClr val="ED8428"/>
            </a:solidFill>
            <a:prstDash val="solid"/>
            <a:tailEnd type="triangle"/>
          </a:ln>
        </p:spPr>
      </p:sp>
      <p:sp>
        <p:nvSpPr>
          <p:cNvPr id="18" name="Shape 16"/>
          <p:cNvSpPr/>
          <p:nvPr/>
        </p:nvSpPr>
        <p:spPr>
          <a:xfrm>
            <a:off x="1339596" y="5248656"/>
            <a:ext cx="9509760" cy="566928"/>
          </a:xfrm>
          <a:prstGeom prst="roundRect">
            <a:avLst>
              <a:gd name="adj" fmla="val 12903"/>
            </a:avLst>
          </a:prstGeom>
          <a:solidFill>
            <a:srgbClr val="161616"/>
          </a:solidFill>
          <a:ln w="19050">
            <a:solidFill>
              <a:srgbClr val="ED8428"/>
            </a:solidFill>
            <a:prstDash val="solid"/>
          </a:ln>
        </p:spPr>
      </p:sp>
      <p:sp>
        <p:nvSpPr>
          <p:cNvPr id="19" name="Text 17"/>
          <p:cNvSpPr/>
          <p:nvPr/>
        </p:nvSpPr>
        <p:spPr>
          <a:xfrm>
            <a:off x="1476756" y="524865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6. Evaluate on the test set → RMSE = 1.2900</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NMF COLLABORATIVE FILTERING — WORKFLOW</a:t>
            </a:r>
            <a:endParaRPr lang="en-US" sz="2600" dirty="0"/>
          </a:p>
        </p:txBody>
      </p:sp>
      <p:sp>
        <p:nvSpPr>
          <p:cNvPr id="3" name="Shape 1"/>
          <p:cNvSpPr/>
          <p:nvPr/>
        </p:nvSpPr>
        <p:spPr>
          <a:xfrm>
            <a:off x="1339596" y="1682496"/>
            <a:ext cx="9509760" cy="566928"/>
          </a:xfrm>
          <a:prstGeom prst="roundRect">
            <a:avLst>
              <a:gd name="adj" fmla="val 12903"/>
            </a:avLst>
          </a:prstGeom>
          <a:solidFill>
            <a:srgbClr val="161616"/>
          </a:solidFill>
          <a:ln w="19050">
            <a:solidFill>
              <a:srgbClr val="ED8428"/>
            </a:solidFill>
            <a:prstDash val="solid"/>
          </a:ln>
        </p:spPr>
      </p:sp>
      <p:sp>
        <p:nvSpPr>
          <p:cNvPr id="4" name="Text 2"/>
          <p:cNvSpPr/>
          <p:nvPr/>
        </p:nvSpPr>
        <p:spPr>
          <a:xfrm>
            <a:off x="1476756" y="168249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1. Build the user-item rating matrix (31,311 users × 124 items in the training set)</a:t>
            </a:r>
            <a:endParaRPr lang="en-US" sz="1250" dirty="0"/>
          </a:p>
        </p:txBody>
      </p:sp>
      <p:sp>
        <p:nvSpPr>
          <p:cNvPr id="5" name="Shape 3"/>
          <p:cNvSpPr/>
          <p:nvPr/>
        </p:nvSpPr>
        <p:spPr>
          <a:xfrm>
            <a:off x="6094476" y="2249424"/>
            <a:ext cx="0" cy="146304"/>
          </a:xfrm>
          <a:prstGeom prst="line">
            <a:avLst/>
          </a:prstGeom>
          <a:noFill/>
          <a:ln w="25400">
            <a:solidFill>
              <a:srgbClr val="ED8428"/>
            </a:solidFill>
            <a:prstDash val="solid"/>
            <a:tailEnd type="triangle"/>
          </a:ln>
        </p:spPr>
      </p:sp>
      <p:sp>
        <p:nvSpPr>
          <p:cNvPr id="6" name="Shape 4"/>
          <p:cNvSpPr/>
          <p:nvPr/>
        </p:nvSpPr>
        <p:spPr>
          <a:xfrm>
            <a:off x="1339596" y="2395728"/>
            <a:ext cx="9509760" cy="566928"/>
          </a:xfrm>
          <a:prstGeom prst="roundRect">
            <a:avLst>
              <a:gd name="adj" fmla="val 12903"/>
            </a:avLst>
          </a:prstGeom>
          <a:solidFill>
            <a:srgbClr val="161616"/>
          </a:solidFill>
          <a:ln w="19050">
            <a:solidFill>
              <a:srgbClr val="ED8428"/>
            </a:solidFill>
            <a:prstDash val="solid"/>
          </a:ln>
        </p:spPr>
      </p:sp>
      <p:sp>
        <p:nvSpPr>
          <p:cNvPr id="7" name="Text 5"/>
          <p:cNvSpPr/>
          <p:nvPr/>
        </p:nvSpPr>
        <p:spPr>
          <a:xfrm>
            <a:off x="1476756" y="2395728"/>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2. Split ratings into a train set and a test set</a:t>
            </a:r>
            <a:endParaRPr lang="en-US" sz="1250" dirty="0"/>
          </a:p>
        </p:txBody>
      </p:sp>
      <p:sp>
        <p:nvSpPr>
          <p:cNvPr id="8" name="Shape 6"/>
          <p:cNvSpPr/>
          <p:nvPr/>
        </p:nvSpPr>
        <p:spPr>
          <a:xfrm>
            <a:off x="6094476" y="2962656"/>
            <a:ext cx="0" cy="146304"/>
          </a:xfrm>
          <a:prstGeom prst="line">
            <a:avLst/>
          </a:prstGeom>
          <a:noFill/>
          <a:ln w="25400">
            <a:solidFill>
              <a:srgbClr val="ED8428"/>
            </a:solidFill>
            <a:prstDash val="solid"/>
            <a:tailEnd type="triangle"/>
          </a:ln>
        </p:spPr>
      </p:sp>
      <p:sp>
        <p:nvSpPr>
          <p:cNvPr id="9" name="Shape 7"/>
          <p:cNvSpPr/>
          <p:nvPr/>
        </p:nvSpPr>
        <p:spPr>
          <a:xfrm>
            <a:off x="1339596" y="3108960"/>
            <a:ext cx="9509760" cy="566928"/>
          </a:xfrm>
          <a:prstGeom prst="roundRect">
            <a:avLst>
              <a:gd name="adj" fmla="val 12903"/>
            </a:avLst>
          </a:prstGeom>
          <a:solidFill>
            <a:srgbClr val="161616"/>
          </a:solidFill>
          <a:ln w="19050">
            <a:solidFill>
              <a:srgbClr val="ED8428"/>
            </a:solidFill>
            <a:prstDash val="solid"/>
          </a:ln>
        </p:spPr>
      </p:sp>
      <p:sp>
        <p:nvSpPr>
          <p:cNvPr id="10" name="Text 8"/>
          <p:cNvSpPr/>
          <p:nvPr/>
        </p:nvSpPr>
        <p:spPr>
          <a:xfrm>
            <a:off x="1476756" y="3108960"/>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3. Factorize the matrix into a User latent matrix U and an Item latent matrix I (non-negative)</a:t>
            </a:r>
            <a:endParaRPr lang="en-US" sz="1250" dirty="0"/>
          </a:p>
        </p:txBody>
      </p:sp>
      <p:sp>
        <p:nvSpPr>
          <p:cNvPr id="11" name="Shape 9"/>
          <p:cNvSpPr/>
          <p:nvPr/>
        </p:nvSpPr>
        <p:spPr>
          <a:xfrm>
            <a:off x="6094476" y="3675888"/>
            <a:ext cx="0" cy="146304"/>
          </a:xfrm>
          <a:prstGeom prst="line">
            <a:avLst/>
          </a:prstGeom>
          <a:noFill/>
          <a:ln w="25400">
            <a:solidFill>
              <a:srgbClr val="ED8428"/>
            </a:solidFill>
            <a:prstDash val="solid"/>
            <a:tailEnd type="triangle"/>
          </a:ln>
        </p:spPr>
      </p:sp>
      <p:sp>
        <p:nvSpPr>
          <p:cNvPr id="12" name="Shape 10"/>
          <p:cNvSpPr/>
          <p:nvPr/>
        </p:nvSpPr>
        <p:spPr>
          <a:xfrm>
            <a:off x="1339596" y="3822192"/>
            <a:ext cx="9509760" cy="566928"/>
          </a:xfrm>
          <a:prstGeom prst="roundRect">
            <a:avLst>
              <a:gd name="adj" fmla="val 12903"/>
            </a:avLst>
          </a:prstGeom>
          <a:solidFill>
            <a:srgbClr val="161616"/>
          </a:solidFill>
          <a:ln w="19050">
            <a:solidFill>
              <a:srgbClr val="ED8428"/>
            </a:solidFill>
            <a:prstDash val="solid"/>
          </a:ln>
        </p:spPr>
      </p:sp>
      <p:sp>
        <p:nvSpPr>
          <p:cNvPr id="13" name="Text 11"/>
          <p:cNvSpPr/>
          <p:nvPr/>
        </p:nvSpPr>
        <p:spPr>
          <a:xfrm>
            <a:off x="1476756" y="3822192"/>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4. Minimize squared error between actual and predicted ratings using SGD over 50 epochs</a:t>
            </a:r>
            <a:endParaRPr lang="en-US" sz="1250" dirty="0"/>
          </a:p>
        </p:txBody>
      </p:sp>
      <p:sp>
        <p:nvSpPr>
          <p:cNvPr id="14" name="Shape 12"/>
          <p:cNvSpPr/>
          <p:nvPr/>
        </p:nvSpPr>
        <p:spPr>
          <a:xfrm>
            <a:off x="6094476" y="4389120"/>
            <a:ext cx="0" cy="146304"/>
          </a:xfrm>
          <a:prstGeom prst="line">
            <a:avLst/>
          </a:prstGeom>
          <a:noFill/>
          <a:ln w="25400">
            <a:solidFill>
              <a:srgbClr val="ED8428"/>
            </a:solidFill>
            <a:prstDash val="solid"/>
            <a:tailEnd type="triangle"/>
          </a:ln>
        </p:spPr>
      </p:sp>
      <p:sp>
        <p:nvSpPr>
          <p:cNvPr id="15" name="Shape 13"/>
          <p:cNvSpPr/>
          <p:nvPr/>
        </p:nvSpPr>
        <p:spPr>
          <a:xfrm>
            <a:off x="1339596" y="4535424"/>
            <a:ext cx="9509760" cy="566928"/>
          </a:xfrm>
          <a:prstGeom prst="roundRect">
            <a:avLst>
              <a:gd name="adj" fmla="val 12903"/>
            </a:avLst>
          </a:prstGeom>
          <a:solidFill>
            <a:srgbClr val="161616"/>
          </a:solidFill>
          <a:ln w="19050">
            <a:solidFill>
              <a:srgbClr val="ED8428"/>
            </a:solidFill>
            <a:prstDash val="solid"/>
          </a:ln>
        </p:spPr>
      </p:sp>
      <p:sp>
        <p:nvSpPr>
          <p:cNvPr id="16" name="Text 14"/>
          <p:cNvSpPr/>
          <p:nvPr/>
        </p:nvSpPr>
        <p:spPr>
          <a:xfrm>
            <a:off x="1476756" y="4535424"/>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5. Predicted rating = dot product of user vector u_j and item vector i_k</a:t>
            </a:r>
            <a:endParaRPr lang="en-US" sz="1250" dirty="0"/>
          </a:p>
        </p:txBody>
      </p:sp>
      <p:sp>
        <p:nvSpPr>
          <p:cNvPr id="17" name="Shape 15"/>
          <p:cNvSpPr/>
          <p:nvPr/>
        </p:nvSpPr>
        <p:spPr>
          <a:xfrm>
            <a:off x="6094476" y="5102352"/>
            <a:ext cx="0" cy="146304"/>
          </a:xfrm>
          <a:prstGeom prst="line">
            <a:avLst/>
          </a:prstGeom>
          <a:noFill/>
          <a:ln w="25400">
            <a:solidFill>
              <a:srgbClr val="ED8428"/>
            </a:solidFill>
            <a:prstDash val="solid"/>
            <a:tailEnd type="triangle"/>
          </a:ln>
        </p:spPr>
      </p:sp>
      <p:sp>
        <p:nvSpPr>
          <p:cNvPr id="18" name="Shape 16"/>
          <p:cNvSpPr/>
          <p:nvPr/>
        </p:nvSpPr>
        <p:spPr>
          <a:xfrm>
            <a:off x="1339596" y="5248656"/>
            <a:ext cx="9509760" cy="566928"/>
          </a:xfrm>
          <a:prstGeom prst="roundRect">
            <a:avLst>
              <a:gd name="adj" fmla="val 12903"/>
            </a:avLst>
          </a:prstGeom>
          <a:solidFill>
            <a:srgbClr val="161616"/>
          </a:solidFill>
          <a:ln w="19050">
            <a:solidFill>
              <a:srgbClr val="ED8428"/>
            </a:solidFill>
            <a:prstDash val="solid"/>
          </a:ln>
        </p:spPr>
      </p:sp>
      <p:sp>
        <p:nvSpPr>
          <p:cNvPr id="19" name="Text 17"/>
          <p:cNvSpPr/>
          <p:nvPr/>
        </p:nvSpPr>
        <p:spPr>
          <a:xfrm>
            <a:off x="1476756" y="524865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6. Evaluate on the test set → RMSE = 1.3047</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NEURAL NETWORK EMBEDDING-BASED RECOMMENDER — WORKFLOW</a:t>
            </a:r>
            <a:endParaRPr lang="en-US" sz="2600" dirty="0"/>
          </a:p>
        </p:txBody>
      </p:sp>
      <p:sp>
        <p:nvSpPr>
          <p:cNvPr id="3" name="Shape 1"/>
          <p:cNvSpPr/>
          <p:nvPr/>
        </p:nvSpPr>
        <p:spPr>
          <a:xfrm>
            <a:off x="1339596" y="1682496"/>
            <a:ext cx="9509760" cy="566928"/>
          </a:xfrm>
          <a:prstGeom prst="roundRect">
            <a:avLst>
              <a:gd name="adj" fmla="val 12903"/>
            </a:avLst>
          </a:prstGeom>
          <a:solidFill>
            <a:srgbClr val="161616"/>
          </a:solidFill>
          <a:ln w="19050">
            <a:solidFill>
              <a:srgbClr val="ED8428"/>
            </a:solidFill>
            <a:prstDash val="solid"/>
          </a:ln>
        </p:spPr>
      </p:sp>
      <p:sp>
        <p:nvSpPr>
          <p:cNvPr id="4" name="Text 2"/>
          <p:cNvSpPr/>
          <p:nvPr/>
        </p:nvSpPr>
        <p:spPr>
          <a:xfrm>
            <a:off x="1476756" y="168249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1. Encode each user as a one-hot vector (33,901 users)</a:t>
            </a:r>
            <a:endParaRPr lang="en-US" sz="1250" dirty="0"/>
          </a:p>
        </p:txBody>
      </p:sp>
      <p:sp>
        <p:nvSpPr>
          <p:cNvPr id="5" name="Shape 3"/>
          <p:cNvSpPr/>
          <p:nvPr/>
        </p:nvSpPr>
        <p:spPr>
          <a:xfrm>
            <a:off x="6094476" y="2249424"/>
            <a:ext cx="0" cy="146304"/>
          </a:xfrm>
          <a:prstGeom prst="line">
            <a:avLst/>
          </a:prstGeom>
          <a:noFill/>
          <a:ln w="25400">
            <a:solidFill>
              <a:srgbClr val="ED8428"/>
            </a:solidFill>
            <a:prstDash val="solid"/>
            <a:tailEnd type="triangle"/>
          </a:ln>
        </p:spPr>
      </p:sp>
      <p:sp>
        <p:nvSpPr>
          <p:cNvPr id="6" name="Shape 4"/>
          <p:cNvSpPr/>
          <p:nvPr/>
        </p:nvSpPr>
        <p:spPr>
          <a:xfrm>
            <a:off x="1339596" y="2395728"/>
            <a:ext cx="9509760" cy="566928"/>
          </a:xfrm>
          <a:prstGeom prst="roundRect">
            <a:avLst>
              <a:gd name="adj" fmla="val 12903"/>
            </a:avLst>
          </a:prstGeom>
          <a:solidFill>
            <a:srgbClr val="161616"/>
          </a:solidFill>
          <a:ln w="19050">
            <a:solidFill>
              <a:srgbClr val="ED8428"/>
            </a:solidFill>
            <a:prstDash val="solid"/>
          </a:ln>
        </p:spPr>
      </p:sp>
      <p:sp>
        <p:nvSpPr>
          <p:cNvPr id="7" name="Text 5"/>
          <p:cNvSpPr/>
          <p:nvPr/>
        </p:nvSpPr>
        <p:spPr>
          <a:xfrm>
            <a:off x="1476756" y="2395728"/>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2. Encode each course as a one-hot vector (126 items)</a:t>
            </a:r>
            <a:endParaRPr lang="en-US" sz="1250" dirty="0"/>
          </a:p>
        </p:txBody>
      </p:sp>
      <p:sp>
        <p:nvSpPr>
          <p:cNvPr id="8" name="Shape 6"/>
          <p:cNvSpPr/>
          <p:nvPr/>
        </p:nvSpPr>
        <p:spPr>
          <a:xfrm>
            <a:off x="6094476" y="2962656"/>
            <a:ext cx="0" cy="146304"/>
          </a:xfrm>
          <a:prstGeom prst="line">
            <a:avLst/>
          </a:prstGeom>
          <a:noFill/>
          <a:ln w="25400">
            <a:solidFill>
              <a:srgbClr val="ED8428"/>
            </a:solidFill>
            <a:prstDash val="solid"/>
            <a:tailEnd type="triangle"/>
          </a:ln>
        </p:spPr>
      </p:sp>
      <p:sp>
        <p:nvSpPr>
          <p:cNvPr id="9" name="Shape 7"/>
          <p:cNvSpPr/>
          <p:nvPr/>
        </p:nvSpPr>
        <p:spPr>
          <a:xfrm>
            <a:off x="1339596" y="3108960"/>
            <a:ext cx="9509760" cy="566928"/>
          </a:xfrm>
          <a:prstGeom prst="roundRect">
            <a:avLst>
              <a:gd name="adj" fmla="val 12903"/>
            </a:avLst>
          </a:prstGeom>
          <a:solidFill>
            <a:srgbClr val="161616"/>
          </a:solidFill>
          <a:ln w="19050">
            <a:solidFill>
              <a:srgbClr val="ED8428"/>
            </a:solidFill>
            <a:prstDash val="solid"/>
          </a:ln>
        </p:spPr>
      </p:sp>
      <p:sp>
        <p:nvSpPr>
          <p:cNvPr id="10" name="Text 8"/>
          <p:cNvSpPr/>
          <p:nvPr/>
        </p:nvSpPr>
        <p:spPr>
          <a:xfrm>
            <a:off x="1476756" y="3108960"/>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3. Pass both through Embedding layers (embedding size = 16) to get latent vectors</a:t>
            </a:r>
            <a:endParaRPr lang="en-US" sz="1250" dirty="0"/>
          </a:p>
        </p:txBody>
      </p:sp>
      <p:sp>
        <p:nvSpPr>
          <p:cNvPr id="11" name="Shape 9"/>
          <p:cNvSpPr/>
          <p:nvPr/>
        </p:nvSpPr>
        <p:spPr>
          <a:xfrm>
            <a:off x="6094476" y="3675888"/>
            <a:ext cx="0" cy="146304"/>
          </a:xfrm>
          <a:prstGeom prst="line">
            <a:avLst/>
          </a:prstGeom>
          <a:noFill/>
          <a:ln w="25400">
            <a:solidFill>
              <a:srgbClr val="ED8428"/>
            </a:solidFill>
            <a:prstDash val="solid"/>
            <a:tailEnd type="triangle"/>
          </a:ln>
        </p:spPr>
      </p:sp>
      <p:sp>
        <p:nvSpPr>
          <p:cNvPr id="12" name="Shape 10"/>
          <p:cNvSpPr/>
          <p:nvPr/>
        </p:nvSpPr>
        <p:spPr>
          <a:xfrm>
            <a:off x="1339596" y="3822192"/>
            <a:ext cx="9509760" cy="566928"/>
          </a:xfrm>
          <a:prstGeom prst="roundRect">
            <a:avLst>
              <a:gd name="adj" fmla="val 12903"/>
            </a:avLst>
          </a:prstGeom>
          <a:solidFill>
            <a:srgbClr val="161616"/>
          </a:solidFill>
          <a:ln w="19050">
            <a:solidFill>
              <a:srgbClr val="ED8428"/>
            </a:solidFill>
            <a:prstDash val="solid"/>
          </a:ln>
        </p:spPr>
      </p:sp>
      <p:sp>
        <p:nvSpPr>
          <p:cNvPr id="13" name="Text 11"/>
          <p:cNvSpPr/>
          <p:nvPr/>
        </p:nvSpPr>
        <p:spPr>
          <a:xfrm>
            <a:off x="1476756" y="3822192"/>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4. Combine the user and item embedding vectors with a dot product</a:t>
            </a:r>
            <a:endParaRPr lang="en-US" sz="1250" dirty="0"/>
          </a:p>
        </p:txBody>
      </p:sp>
      <p:sp>
        <p:nvSpPr>
          <p:cNvPr id="14" name="Shape 12"/>
          <p:cNvSpPr/>
          <p:nvPr/>
        </p:nvSpPr>
        <p:spPr>
          <a:xfrm>
            <a:off x="6094476" y="4389120"/>
            <a:ext cx="0" cy="146304"/>
          </a:xfrm>
          <a:prstGeom prst="line">
            <a:avLst/>
          </a:prstGeom>
          <a:noFill/>
          <a:ln w="25400">
            <a:solidFill>
              <a:srgbClr val="ED8428"/>
            </a:solidFill>
            <a:prstDash val="solid"/>
            <a:tailEnd type="triangle"/>
          </a:ln>
        </p:spPr>
      </p:sp>
      <p:sp>
        <p:nvSpPr>
          <p:cNvPr id="15" name="Shape 13"/>
          <p:cNvSpPr/>
          <p:nvPr/>
        </p:nvSpPr>
        <p:spPr>
          <a:xfrm>
            <a:off x="1339596" y="4535424"/>
            <a:ext cx="9509760" cy="566928"/>
          </a:xfrm>
          <a:prstGeom prst="roundRect">
            <a:avLst>
              <a:gd name="adj" fmla="val 12903"/>
            </a:avLst>
          </a:prstGeom>
          <a:solidFill>
            <a:srgbClr val="161616"/>
          </a:solidFill>
          <a:ln w="19050">
            <a:solidFill>
              <a:srgbClr val="ED8428"/>
            </a:solidFill>
            <a:prstDash val="solid"/>
          </a:ln>
        </p:spPr>
      </p:sp>
      <p:sp>
        <p:nvSpPr>
          <p:cNvPr id="16" name="Text 14"/>
          <p:cNvSpPr/>
          <p:nvPr/>
        </p:nvSpPr>
        <p:spPr>
          <a:xfrm>
            <a:off x="1476756" y="4535424"/>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5. Output: predicted rating</a:t>
            </a:r>
            <a:endParaRPr lang="en-US" sz="1250" dirty="0"/>
          </a:p>
        </p:txBody>
      </p:sp>
      <p:sp>
        <p:nvSpPr>
          <p:cNvPr id="17" name="Shape 15"/>
          <p:cNvSpPr/>
          <p:nvPr/>
        </p:nvSpPr>
        <p:spPr>
          <a:xfrm>
            <a:off x="6094476" y="5102352"/>
            <a:ext cx="0" cy="146304"/>
          </a:xfrm>
          <a:prstGeom prst="line">
            <a:avLst/>
          </a:prstGeom>
          <a:noFill/>
          <a:ln w="25400">
            <a:solidFill>
              <a:srgbClr val="ED8428"/>
            </a:solidFill>
            <a:prstDash val="solid"/>
            <a:tailEnd type="triangle"/>
          </a:ln>
        </p:spPr>
      </p:sp>
      <p:sp>
        <p:nvSpPr>
          <p:cNvPr id="18" name="Shape 16"/>
          <p:cNvSpPr/>
          <p:nvPr/>
        </p:nvSpPr>
        <p:spPr>
          <a:xfrm>
            <a:off x="1339596" y="5248656"/>
            <a:ext cx="9509760" cy="566928"/>
          </a:xfrm>
          <a:prstGeom prst="roundRect">
            <a:avLst>
              <a:gd name="adj" fmla="val 12903"/>
            </a:avLst>
          </a:prstGeom>
          <a:solidFill>
            <a:srgbClr val="161616"/>
          </a:solidFill>
          <a:ln w="19050">
            <a:solidFill>
              <a:srgbClr val="ED8428"/>
            </a:solidFill>
            <a:prstDash val="solid"/>
          </a:ln>
        </p:spPr>
      </p:sp>
      <p:sp>
        <p:nvSpPr>
          <p:cNvPr id="19" name="Text 17"/>
          <p:cNvSpPr/>
          <p:nvPr/>
        </p:nvSpPr>
        <p:spPr>
          <a:xfrm>
            <a:off x="1476756" y="5248656"/>
            <a:ext cx="9235440" cy="56692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6. Trained for 10 epochs and evaluated on the test set → RMSE = 0.4492 (loss 0.2050)</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MODEL PERFORMANCE COMPARISON</a:t>
            </a:r>
            <a:endParaRPr lang="en-US" sz="2600" dirty="0"/>
          </a:p>
        </p:txBody>
      </p:sp>
      <p:graphicFrame>
        <p:nvGraphicFramePr>
          <p:cNvPr id="3" name="Chart 0" descr=""/>
          <p:cNvGraphicFramePr/>
          <p:nvPr/>
        </p:nvGraphicFramePr>
        <p:xfrm>
          <a:off x="548640" y="1554480"/>
          <a:ext cx="5852160" cy="4297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675120" y="1645920"/>
            <a:ext cx="4937760" cy="4206240"/>
          </a:xfrm>
          <a:prstGeom prst="rect">
            <a:avLst/>
          </a:prstGeom>
          <a:noFill/>
          <a:ln/>
        </p:spPr>
        <p:txBody>
          <a:bodyPr wrap="square" lIns="0" tIns="0" rIns="0" bIns="0" rtlCol="0" anchor="t"/>
          <a:lstStyle/>
          <a:p>
            <a:pPr indent="0" marL="0">
              <a:lnSpc>
                <a:spcPct val="130000"/>
              </a:lnSpc>
              <a:spcAft>
                <a:spcPts val="1000"/>
              </a:spcAft>
              <a:buNone/>
            </a:pPr>
            <a:r>
              <a:rPr lang="en-US" sz="1300" b="1" dirty="0">
                <a:solidFill>
                  <a:srgbClr val="ED8428"/>
                </a:solidFill>
                <a:latin typeface="Arial" pitchFamily="34" charset="0"/>
                <a:ea typeface="Arial" pitchFamily="34" charset="-122"/>
                <a:cs typeface="Arial" pitchFamily="34" charset="-120"/>
              </a:rPr>
              <a:t>What the numbers say</a:t>
            </a:r>
            <a:endParaRPr lang="en-US" sz="1300" dirty="0"/>
          </a:p>
          <a:p>
            <a:pPr marL="342900" indent="-342900">
              <a:lnSpc>
                <a:spcPct val="130000"/>
              </a:lnSpc>
              <a:buSzPct val="100000"/>
              <a:buChar char="•"/>
            </a:pPr>
            <a:r>
              <a:rPr lang="en-US" sz="1300" dirty="0">
                <a:solidFill>
                  <a:srgbClr val="FFFFFF"/>
                </a:solidFill>
                <a:latin typeface="Arial" pitchFamily="34" charset="0"/>
                <a:ea typeface="Arial" pitchFamily="34" charset="-122"/>
                <a:cs typeface="Arial" pitchFamily="34" charset="-120"/>
              </a:rPr>
              <a:t>KNN: RMSE 1.2900</a:t>
            </a:r>
            <a:endParaRPr lang="en-US" sz="1300" dirty="0"/>
          </a:p>
          <a:p>
            <a:pPr marL="342900" indent="-342900">
              <a:lnSpc>
                <a:spcPct val="130000"/>
              </a:lnSpc>
              <a:spcAft>
                <a:spcPts val="1000"/>
              </a:spcAft>
              <a:buSzPct val="100000"/>
              <a:buChar char="•"/>
            </a:pPr>
            <a:r>
              <a:rPr lang="en-US" sz="1300" dirty="0">
                <a:solidFill>
                  <a:srgbClr val="FFFFFF"/>
                </a:solidFill>
                <a:latin typeface="Arial" pitchFamily="34" charset="0"/>
                <a:ea typeface="Arial" pitchFamily="34" charset="-122"/>
                <a:cs typeface="Arial" pitchFamily="34" charset="-120"/>
              </a:rPr>
              <a:t>NMF: RMSE 1.3047</a:t>
            </a:r>
            <a:endParaRPr lang="en-US" sz="1300" dirty="0"/>
          </a:p>
          <a:p>
            <a:pPr marL="342900" indent="-342900">
              <a:lnSpc>
                <a:spcPct val="130000"/>
              </a:lnSpc>
              <a:spcAft>
                <a:spcPts val="1000"/>
              </a:spcAft>
              <a:buSzPct val="100000"/>
              <a:buChar char="•"/>
            </a:pPr>
            <a:r>
              <a:rPr lang="en-US" sz="1300" dirty="0">
                <a:solidFill>
                  <a:srgbClr val="FFFFFF"/>
                </a:solidFill>
                <a:latin typeface="Arial" pitchFamily="34" charset="0"/>
                <a:ea typeface="Arial" pitchFamily="34" charset="-122"/>
                <a:cs typeface="Arial" pitchFamily="34" charset="-120"/>
              </a:rPr>
              <a:t>Neural Network: RMSE 0.4492</a:t>
            </a:r>
            <a:endParaRPr lang="en-US" sz="1300" dirty="0"/>
          </a:p>
          <a:p>
            <a:pPr indent="0" marL="0">
              <a:lnSpc>
                <a:spcPct val="130000"/>
              </a:lnSpc>
              <a:buNone/>
            </a:pPr>
            <a:r>
              <a:rPr lang="en-US" sz="1300" dirty="0">
                <a:solidFill>
                  <a:srgbClr val="FFFFFF"/>
                </a:solidFill>
                <a:latin typeface="Arial" pitchFamily="34" charset="0"/>
                <a:ea typeface="Arial" pitchFamily="34" charset="-122"/>
                <a:cs typeface="Arial" pitchFamily="34" charset="-120"/>
              </a:rPr>
              <a:t>The neural network's much lower RMSE partly reflects a different train/test split and rating scale than the Surprise-based KNN and NMF models, so the gap shouldn't be read as a like-for-like improvement — but among KNN and NMF specifically, KNN performed marginally better on this dataset.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LIVE DEMO LINK:</a:t>
            </a:r>
            <a:endParaRPr lang="en-US" sz="2600" dirty="0"/>
          </a:p>
        </p:txBody>
      </p:sp>
      <p:pic>
        <p:nvPicPr>
          <p:cNvPr id="3" name="Image 0" descr="/home/claude/assets/icon_speech.png">    </p:cNvPr>
          <p:cNvPicPr>
            <a:picLocks noChangeAspect="1"/>
          </p:cNvPicPr>
          <p:nvPr/>
        </p:nvPicPr>
        <p:blipFill>
          <a:blip r:embed="rId1"/>
          <a:stretch>
            <a:fillRect/>
          </a:stretch>
        </p:blipFill>
        <p:spPr>
          <a:xfrm>
            <a:off x="548640" y="2103120"/>
            <a:ext cx="2194560" cy="2194560"/>
          </a:xfrm>
          <a:prstGeom prst="rect">
            <a:avLst/>
          </a:prstGeom>
        </p:spPr>
      </p:pic>
      <p:sp>
        <p:nvSpPr>
          <p:cNvPr id="4" name="Text 1"/>
          <p:cNvSpPr/>
          <p:nvPr/>
        </p:nvSpPr>
        <p:spPr>
          <a:xfrm>
            <a:off x="3108960" y="2743200"/>
            <a:ext cx="8412480" cy="9144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Steamkit: https://personalized-course-recommender-system-74bhfr6ufblqnrwrypn5nu.streamlit.app/</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DASHBOARD TAB 1 - GET RECOMMENDATIONS</a:t>
            </a:r>
            <a:endParaRPr lang="en-US" sz="2600" dirty="0"/>
          </a:p>
        </p:txBody>
      </p:sp>
      <p:pic>
        <p:nvPicPr>
          <p:cNvPr id="3" name="Image 0" descr="/home/claude/assets/dashboard1.png">    </p:cNvPr>
          <p:cNvPicPr>
            <a:picLocks noChangeAspect="1"/>
          </p:cNvPicPr>
          <p:nvPr/>
        </p:nvPicPr>
        <p:blipFill>
          <a:blip r:embed="rId1"/>
          <a:stretch>
            <a:fillRect/>
          </a:stretch>
        </p:blipFill>
        <p:spPr>
          <a:xfrm>
            <a:off x="1293876" y="1463040"/>
            <a:ext cx="9601200" cy="48615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DASHBOARD TAB 2 – EVIDENCE &amp; LIMITATIONS</a:t>
            </a:r>
            <a:endParaRPr lang="en-US" sz="2600" dirty="0"/>
          </a:p>
        </p:txBody>
      </p:sp>
      <p:pic>
        <p:nvPicPr>
          <p:cNvPr id="3" name="Image 0" descr="/home/claude/assets/dashboard2.png">    </p:cNvPr>
          <p:cNvPicPr>
            <a:picLocks noChangeAspect="1"/>
          </p:cNvPicPr>
          <p:nvPr/>
        </p:nvPicPr>
        <p:blipFill>
          <a:blip r:embed="rId1"/>
          <a:stretch>
            <a:fillRect/>
          </a:stretch>
        </p:blipFill>
        <p:spPr>
          <a:xfrm>
            <a:off x="1293876" y="1463040"/>
            <a:ext cx="9601200" cy="5029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DASHBOARD TAB 3 – BEGINNER FRIENDLY GUIDE</a:t>
            </a:r>
            <a:endParaRPr lang="en-US" sz="2600" dirty="0"/>
          </a:p>
        </p:txBody>
      </p:sp>
      <p:pic>
        <p:nvPicPr>
          <p:cNvPr id="3" name="Image 0" descr="/home/claude/assets/dashboard3.png">    </p:cNvPr>
          <p:cNvPicPr>
            <a:picLocks noChangeAspect="1"/>
          </p:cNvPicPr>
          <p:nvPr/>
        </p:nvPicPr>
        <p:blipFill>
          <a:blip r:embed="rId1"/>
          <a:stretch>
            <a:fillRect/>
          </a:stretch>
        </p:blipFill>
        <p:spPr>
          <a:xfrm>
            <a:off x="1293876" y="1463040"/>
            <a:ext cx="9601200" cy="50292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DISCUSSION</a:t>
            </a:r>
            <a:endParaRPr lang="en-US" sz="2600" dirty="0"/>
          </a:p>
        </p:txBody>
      </p:sp>
      <p:pic>
        <p:nvPicPr>
          <p:cNvPr id="3" name="Image 0" descr="/home/claude/assets/icon_speech.png">    </p:cNvPr>
          <p:cNvPicPr>
            <a:picLocks noChangeAspect="1"/>
          </p:cNvPicPr>
          <p:nvPr/>
        </p:nvPicPr>
        <p:blipFill>
          <a:blip r:embed="rId1"/>
          <a:stretch>
            <a:fillRect/>
          </a:stretch>
        </p:blipFill>
        <p:spPr>
          <a:xfrm>
            <a:off x="548640" y="2103120"/>
            <a:ext cx="2194560" cy="2194560"/>
          </a:xfrm>
          <a:prstGeom prst="rect">
            <a:avLst/>
          </a:prstGeom>
        </p:spPr>
      </p:pic>
      <p:sp>
        <p:nvSpPr>
          <p:cNvPr id="4" name="Text 1"/>
          <p:cNvSpPr/>
          <p:nvPr/>
        </p:nvSpPr>
        <p:spPr>
          <a:xfrm>
            <a:off x="3108960" y="1463040"/>
            <a:ext cx="8503920" cy="49377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450" dirty="0">
                <a:solidFill>
                  <a:srgbClr val="FFFFFF"/>
                </a:solidFill>
                <a:latin typeface="Arial" pitchFamily="34" charset="0"/>
                <a:ea typeface="Arial" pitchFamily="34" charset="-122"/>
                <a:cs typeface="Arial" pitchFamily="34" charset="-120"/>
              </a:rPr>
              <a:t>The above screenshots shows the live demo of the course recommender system app that is deployed in streamlit by giving the system different type of courses and by using those courses user can get the personalized suggestions that which course he should do that matches his interest</a:t>
            </a:r>
            <a:endParaRPr lang="en-US" sz="1450" dirty="0"/>
          </a:p>
          <a:p>
            <a:pPr marL="342900" indent="-342900">
              <a:lnSpc>
                <a:spcPct val="115000"/>
              </a:lnSpc>
              <a:spcAft>
                <a:spcPts val="1400"/>
              </a:spcAft>
              <a:buSzPct val="100000"/>
              <a:buChar char="•"/>
            </a:pPr>
            <a:r>
              <a:rPr lang="en-US" sz="1450" dirty="0">
                <a:solidFill>
                  <a:srgbClr val="FFFFFF"/>
                </a:solidFill>
                <a:latin typeface="Arial" pitchFamily="34" charset="0"/>
                <a:ea typeface="Arial" pitchFamily="34" charset="-122"/>
                <a:cs typeface="Arial" pitchFamily="34" charset="-120"/>
              </a:rPr>
              <a:t>First screenshot shows that the user can get personalized recommendation on which courses he should do in future based on his previously completed courses by selecting different models and tuning hyperparameters</a:t>
            </a:r>
            <a:endParaRPr lang="en-US" sz="1450" dirty="0"/>
          </a:p>
          <a:p>
            <a:pPr marL="342900" indent="-342900">
              <a:lnSpc>
                <a:spcPct val="115000"/>
              </a:lnSpc>
              <a:spcAft>
                <a:spcPts val="1400"/>
              </a:spcAft>
              <a:buSzPct val="100000"/>
              <a:buChar char="•"/>
            </a:pPr>
            <a:r>
              <a:rPr lang="en-US" sz="1450" dirty="0">
                <a:solidFill>
                  <a:srgbClr val="FFFFFF"/>
                </a:solidFill>
                <a:latin typeface="Arial" pitchFamily="34" charset="0"/>
                <a:ea typeface="Arial" pitchFamily="34" charset="-122"/>
                <a:cs typeface="Arial" pitchFamily="34" charset="-120"/>
              </a:rPr>
              <a:t>The second screenshot shows the evidence behind the predictions which the model gives in the form metric like RMSE and the honest strengths and limitations of the system</a:t>
            </a:r>
            <a:endParaRPr lang="en-US" sz="1450" dirty="0"/>
          </a:p>
          <a:p>
            <a:pPr marL="342900" indent="-342900">
              <a:lnSpc>
                <a:spcPct val="115000"/>
              </a:lnSpc>
              <a:spcAft>
                <a:spcPts val="1400"/>
              </a:spcAft>
              <a:buSzPct val="100000"/>
              <a:buChar char="•"/>
            </a:pPr>
            <a:r>
              <a:rPr lang="en-US" sz="1450" dirty="0">
                <a:solidFill>
                  <a:srgbClr val="FFFFFF"/>
                </a:solidFill>
                <a:latin typeface="Arial" pitchFamily="34" charset="0"/>
                <a:ea typeface="Arial" pitchFamily="34" charset="-122"/>
                <a:cs typeface="Arial" pitchFamily="34" charset="-120"/>
              </a:rPr>
              <a:t>The third screen screenshot shows the beginner friendly guide on how to use the app step by step and how the predictions are actually build.</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OVERALL FINDINGS &amp; IMPLICATIONS</a:t>
            </a:r>
            <a:endParaRPr lang="en-US" sz="2600" dirty="0"/>
          </a:p>
        </p:txBody>
      </p:sp>
      <p:sp>
        <p:nvSpPr>
          <p:cNvPr id="3" name="Text 1"/>
          <p:cNvSpPr/>
          <p:nvPr/>
        </p:nvSpPr>
        <p:spPr>
          <a:xfrm>
            <a:off x="548640" y="1463040"/>
            <a:ext cx="5486400" cy="365760"/>
          </a:xfrm>
          <a:prstGeom prst="rect">
            <a:avLst/>
          </a:prstGeom>
          <a:noFill/>
          <a:ln/>
        </p:spPr>
        <p:txBody>
          <a:bodyPr wrap="square" lIns="0" tIns="0" rIns="0" bIns="0" rtlCol="0" anchor="ctr"/>
          <a:lstStyle/>
          <a:p>
            <a:pPr indent="0" marL="0">
              <a:buNone/>
            </a:pPr>
            <a:r>
              <a:rPr lang="en-US" sz="1600" b="1" dirty="0">
                <a:solidFill>
                  <a:srgbClr val="ED8428"/>
                </a:solidFill>
                <a:latin typeface="Arial" pitchFamily="34" charset="0"/>
                <a:ea typeface="Arial" pitchFamily="34" charset="-122"/>
                <a:cs typeface="Arial" pitchFamily="34" charset="-120"/>
              </a:rPr>
              <a:t>Findings</a:t>
            </a:r>
            <a:endParaRPr lang="en-US" sz="1600" dirty="0"/>
          </a:p>
        </p:txBody>
      </p:sp>
      <p:sp>
        <p:nvSpPr>
          <p:cNvPr id="4" name="Text 2"/>
          <p:cNvSpPr/>
          <p:nvPr/>
        </p:nvSpPr>
        <p:spPr>
          <a:xfrm>
            <a:off x="548640" y="1874520"/>
            <a:ext cx="5577840" cy="457200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Different recommendation methods produced different course rankings because each uses different learner information.</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Content-based methods worked by recommending courses similar to the learner's completed courses.</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Collaborative filtering methods used patterns from many learners instead of only course content.</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Embedding-based models learned compact numerical representations of users and courses.</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Model evaluation showed that prediction quality should be measured using appropriate metrics such as RMSE, Accuracy, Precision, Recall, and F1 Score.</a:t>
            </a:r>
            <a:endParaRPr lang="en-US" sz="1250" dirty="0"/>
          </a:p>
        </p:txBody>
      </p:sp>
      <p:sp>
        <p:nvSpPr>
          <p:cNvPr id="5" name="Text 3"/>
          <p:cNvSpPr/>
          <p:nvPr/>
        </p:nvSpPr>
        <p:spPr>
          <a:xfrm>
            <a:off x="6309360" y="1463040"/>
            <a:ext cx="5486400" cy="365760"/>
          </a:xfrm>
          <a:prstGeom prst="rect">
            <a:avLst/>
          </a:prstGeom>
          <a:noFill/>
          <a:ln/>
        </p:spPr>
        <p:txBody>
          <a:bodyPr wrap="square" lIns="0" tIns="0" rIns="0" bIns="0" rtlCol="0" anchor="ctr"/>
          <a:lstStyle/>
          <a:p>
            <a:pPr indent="0" marL="0">
              <a:buNone/>
            </a:pPr>
            <a:r>
              <a:rPr lang="en-US" sz="1600" b="1" dirty="0">
                <a:solidFill>
                  <a:srgbClr val="ED8428"/>
                </a:solidFill>
                <a:latin typeface="Arial" pitchFamily="34" charset="0"/>
                <a:ea typeface="Arial" pitchFamily="34" charset="-122"/>
                <a:cs typeface="Arial" pitchFamily="34" charset="-120"/>
              </a:rPr>
              <a:t>Implications</a:t>
            </a:r>
            <a:endParaRPr lang="en-US" sz="1600" dirty="0"/>
          </a:p>
        </p:txBody>
      </p:sp>
      <p:sp>
        <p:nvSpPr>
          <p:cNvPr id="6" name="Text 4"/>
          <p:cNvSpPr/>
          <p:nvPr/>
        </p:nvSpPr>
        <p:spPr>
          <a:xfrm>
            <a:off x="6309360" y="1874520"/>
            <a:ext cx="5577840" cy="457200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There is no single method that is best for every learner or situation.</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These methods are easy to understand and useful for learners with a clear learning history.</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Recommendations can become more personalized when enough user interaction data is available.</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Learned embeddings can capture relationships that are difficult to represent with manual features.</a:t>
            </a:r>
            <a:endParaRPr lang="en-US" sz="1250" dirty="0"/>
          </a:p>
          <a:p>
            <a:pPr marL="342900" indent="-342900">
              <a:lnSpc>
                <a:spcPct val="115000"/>
              </a:lnSpc>
              <a:spcAft>
                <a:spcPts val="1400"/>
              </a:spcAft>
              <a:buSzPct val="100000"/>
              <a:buChar char="•"/>
            </a:pPr>
            <a:r>
              <a:rPr lang="en-US" sz="1250" dirty="0">
                <a:solidFill>
                  <a:srgbClr val="FFFFFF"/>
                </a:solidFill>
                <a:latin typeface="Arial" pitchFamily="34" charset="0"/>
                <a:ea typeface="Arial" pitchFamily="34" charset="-122"/>
                <a:cs typeface="Arial" pitchFamily="34" charset="-120"/>
              </a:rPr>
              <a:t>Evaluation metrics help compare models objectively, but final recommendations should still be reviewed by the learner.</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CONCLUSION</a:t>
            </a:r>
            <a:endParaRPr lang="en-US" sz="2600" dirty="0"/>
          </a:p>
        </p:txBody>
      </p:sp>
      <p:pic>
        <p:nvPicPr>
          <p:cNvPr id="3" name="Image 0" descr="/home/claude/assets/icon_gavel.png">    </p:cNvPr>
          <p:cNvPicPr>
            <a:picLocks noChangeAspect="1"/>
          </p:cNvPicPr>
          <p:nvPr/>
        </p:nvPicPr>
        <p:blipFill>
          <a:blip r:embed="rId1"/>
          <a:stretch>
            <a:fillRect/>
          </a:stretch>
        </p:blipFill>
        <p:spPr>
          <a:xfrm>
            <a:off x="548640" y="2194560"/>
            <a:ext cx="2286000" cy="2286000"/>
          </a:xfrm>
          <a:prstGeom prst="rect">
            <a:avLst/>
          </a:prstGeom>
        </p:spPr>
      </p:pic>
      <p:sp>
        <p:nvSpPr>
          <p:cNvPr id="4" name="Text 1"/>
          <p:cNvSpPr/>
          <p:nvPr/>
        </p:nvSpPr>
        <p:spPr>
          <a:xfrm>
            <a:off x="3291840" y="1463040"/>
            <a:ext cx="8321040" cy="49377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Successfully developed and deployed a machine learning–based Course Recommender System.</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Applied data preprocessing, recommendation algorithms, and model evaluation to generate personalized course recommendations.</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Built an interactive application that makes the recommendation process simple and user-friendly.</a:t>
            </a:r>
            <a:endParaRPr lang="en-US" sz="1600" dirty="0"/>
          </a:p>
          <a:p>
            <a:pPr marL="342900" indent="-342900">
              <a:lnSpc>
                <a:spcPct val="115000"/>
              </a:lnSpc>
              <a:spcAft>
                <a:spcPts val="1400"/>
              </a:spcAft>
              <a:buSzPct val="100000"/>
              <a:buChar char="•"/>
            </a:pPr>
            <a:r>
              <a:rPr lang="en-US" sz="1600" dirty="0">
                <a:solidFill>
                  <a:srgbClr val="FFFFFF"/>
                </a:solidFill>
                <a:latin typeface="Arial" pitchFamily="34" charset="0"/>
                <a:ea typeface="Arial" pitchFamily="34" charset="-122"/>
                <a:cs typeface="Arial" pitchFamily="34" charset="-120"/>
              </a:rPr>
              <a:t>Demonstrated the practical use of machine learning in solving a real-world recommendation problem.</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457200"/>
            <a:ext cx="10515600" cy="822960"/>
          </a:xfrm>
          <a:prstGeom prst="rect">
            <a:avLst/>
          </a:prstGeom>
          <a:noFill/>
          <a:ln/>
        </p:spPr>
        <p:txBody>
          <a:bodyPr wrap="square" lIns="0" tIns="0" rIns="0" bIns="0" rtlCol="0" anchor="ctr"/>
          <a:lstStyle/>
          <a:p>
            <a:pPr indent="0" marL="0">
              <a:buNone/>
            </a:pPr>
            <a:r>
              <a:rPr lang="en-US" sz="2600" b="1" spc="200" kern="0" dirty="0">
                <a:solidFill>
                  <a:srgbClr val="FFFFFF"/>
                </a:solidFill>
                <a:latin typeface="Arial" pitchFamily="34" charset="0"/>
                <a:ea typeface="Arial" pitchFamily="34" charset="-122"/>
                <a:cs typeface="Arial" pitchFamily="34" charset="-120"/>
              </a:rPr>
              <a:t>APPENDIX</a:t>
            </a:r>
            <a:endParaRPr lang="en-US" sz="2600" dirty="0"/>
          </a:p>
        </p:txBody>
      </p:sp>
      <p:pic>
        <p:nvPicPr>
          <p:cNvPr id="3" name="Image 0" descr="/home/claude/assets/icon_camera.png">    </p:cNvPr>
          <p:cNvPicPr>
            <a:picLocks noChangeAspect="1"/>
          </p:cNvPicPr>
          <p:nvPr/>
        </p:nvPicPr>
        <p:blipFill>
          <a:blip r:embed="rId1"/>
          <a:stretch>
            <a:fillRect/>
          </a:stretch>
        </p:blipFill>
        <p:spPr>
          <a:xfrm>
            <a:off x="548640" y="2011680"/>
            <a:ext cx="2194560" cy="2194560"/>
          </a:xfrm>
          <a:prstGeom prst="rect">
            <a:avLst/>
          </a:prstGeom>
        </p:spPr>
      </p:pic>
      <p:sp>
        <p:nvSpPr>
          <p:cNvPr id="4" name="Text 1"/>
          <p:cNvSpPr/>
          <p:nvPr/>
        </p:nvSpPr>
        <p:spPr>
          <a:xfrm>
            <a:off x="3108960" y="1737360"/>
            <a:ext cx="4572000" cy="47548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Executive summary</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Introduction</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Methodology</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Word Cloud of Course Titles</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Course Genre &amp; Enrollment Analysis</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Most Popular Courses</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Results</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Content-Based Recommender — User Profile</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Diagrammatic Workflow of System</a:t>
            </a:r>
            <a:endParaRPr lang="en-US" sz="1250" dirty="0"/>
          </a:p>
        </p:txBody>
      </p:sp>
      <p:sp>
        <p:nvSpPr>
          <p:cNvPr id="5" name="Text 2"/>
          <p:cNvSpPr/>
          <p:nvPr/>
        </p:nvSpPr>
        <p:spPr>
          <a:xfrm>
            <a:off x="7863840" y="1737360"/>
            <a:ext cx="4572000" cy="47548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Content-Based Recommender — Course Similarity</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Comparative Insights</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Clustering-Based Recommender</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KNN Collaborative Filtering</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NMF Collaborative Filtering</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Neural Network Recommender</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Model Performance Comparison</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Live Demo Link</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Dashboard Screenshots</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Discussion</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Overall Findings &amp; Implications</a:t>
            </a:r>
            <a:endParaRPr lang="en-US" sz="1250" dirty="0"/>
          </a:p>
          <a:p>
            <a:pPr marL="342900" indent="-342900">
              <a:spcAft>
                <a:spcPts val="900"/>
              </a:spcAft>
              <a:buSzPct val="100000"/>
              <a:buChar char="•"/>
            </a:pPr>
            <a:r>
              <a:rPr lang="en-US" sz="1250" dirty="0">
                <a:solidFill>
                  <a:srgbClr val="FFFFFF"/>
                </a:solidFill>
                <a:latin typeface="Arial" pitchFamily="34" charset="0"/>
                <a:ea typeface="Arial" pitchFamily="34" charset="-122"/>
                <a:cs typeface="Arial" pitchFamily="34" charset="-120"/>
              </a:rPr>
              <a:t>Conclusion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2026-08-03T07:56:16Z</dcterms:created>
  <dcterms:modified xsi:type="dcterms:W3CDTF">2026-08-03T07:56:16Z</dcterms:modified>
</cp:coreProperties>
</file>